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72" r:id="rId8"/>
    <p:sldId id="273" r:id="rId9"/>
    <p:sldId id="262" r:id="rId10"/>
    <p:sldId id="263" r:id="rId11"/>
    <p:sldId id="264" r:id="rId12"/>
    <p:sldId id="274" r:id="rId13"/>
    <p:sldId id="275" r:id="rId14"/>
    <p:sldId id="266" r:id="rId15"/>
    <p:sldId id="267" r:id="rId16"/>
    <p:sldId id="278" r:id="rId17"/>
    <p:sldId id="276" r:id="rId18"/>
    <p:sldId id="268" r:id="rId19"/>
    <p:sldId id="277" r:id="rId20"/>
    <p:sldId id="269" r:id="rId21"/>
    <p:sldId id="27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152CEA-CAAA-4103-8FD8-0BC5C1DE3EA3}" v="7" dt="2026-03-12T04:50:50.4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vertBarState="minimized" horzBarState="maximized">
    <p:restoredLeft sz="15969" autoAdjust="0"/>
    <p:restoredTop sz="94660"/>
  </p:normalViewPr>
  <p:slideViewPr>
    <p:cSldViewPr snapToGrid="0">
      <p:cViewPr varScale="1">
        <p:scale>
          <a:sx n="74" d="100"/>
          <a:sy n="74" d="100"/>
        </p:scale>
        <p:origin x="684"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8F1527-CF75-4ADD-964D-23824D0C4D42}" type="datetimeFigureOut">
              <a:rPr lang="en-IN" smtClean="0"/>
              <a:t>02-04-2026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2A11F4-993D-4EA1-B926-BC56BD08BA74}" type="slidenum">
              <a:rPr lang="en-IN" smtClean="0"/>
              <a:t>‹#›</a:t>
            </a:fld>
            <a:endParaRPr lang="en-IN"/>
          </a:p>
        </p:txBody>
      </p:sp>
    </p:spTree>
    <p:extLst>
      <p:ext uri="{BB962C8B-B14F-4D97-AF65-F5344CB8AC3E}">
        <p14:creationId xmlns:p14="http://schemas.microsoft.com/office/powerpoint/2010/main" val="974250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BCB6B-B384-B63C-E6B3-70D7C6E0F4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F15396A-6A6E-FD2F-135E-54C74A5AF7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3590431-2646-39AE-5B70-75072E864E61}"/>
              </a:ext>
            </a:extLst>
          </p:cNvPr>
          <p:cNvSpPr>
            <a:spLocks noGrp="1"/>
          </p:cNvSpPr>
          <p:nvPr>
            <p:ph type="dt" sz="half" idx="10"/>
          </p:nvPr>
        </p:nvSpPr>
        <p:spPr/>
        <p:txBody>
          <a:bodyPr/>
          <a:lstStyle/>
          <a:p>
            <a:fld id="{D0E122C2-4810-46D2-89A2-14EBC0D40961}" type="datetime1">
              <a:rPr lang="en-IN" smtClean="0"/>
              <a:t>02-04-2026</a:t>
            </a:fld>
            <a:endParaRPr lang="en-IN"/>
          </a:p>
        </p:txBody>
      </p:sp>
      <p:sp>
        <p:nvSpPr>
          <p:cNvPr id="5" name="Footer Placeholder 4">
            <a:extLst>
              <a:ext uri="{FF2B5EF4-FFF2-40B4-BE49-F238E27FC236}">
                <a16:creationId xmlns:a16="http://schemas.microsoft.com/office/drawing/2014/main" id="{44D570FC-F0E0-A8BB-01C4-9A869161D0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AE2177-A0F4-2EC9-3F74-9B918012C8A1}"/>
              </a:ext>
            </a:extLst>
          </p:cNvPr>
          <p:cNvSpPr>
            <a:spLocks noGrp="1"/>
          </p:cNvSpPr>
          <p:nvPr>
            <p:ph type="sldNum" sz="quarter" idx="12"/>
          </p:nvPr>
        </p:nvSpPr>
        <p:spPr/>
        <p:txBody>
          <a:bodyPr/>
          <a:lstStyle/>
          <a:p>
            <a:fld id="{B6A08FA2-6E03-4978-AC29-B1ACFE8A3E2D}" type="slidenum">
              <a:rPr lang="en-IN" smtClean="0"/>
              <a:t>‹#›</a:t>
            </a:fld>
            <a:endParaRPr lang="en-IN"/>
          </a:p>
        </p:txBody>
      </p:sp>
    </p:spTree>
    <p:extLst>
      <p:ext uri="{BB962C8B-B14F-4D97-AF65-F5344CB8AC3E}">
        <p14:creationId xmlns:p14="http://schemas.microsoft.com/office/powerpoint/2010/main" val="4104737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62323-F767-4984-DB3E-9AF4891405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D49EC59-F5BB-ABAC-2505-365B042851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40A65A-B2A2-895A-BBC5-8BD8B928BDA2}"/>
              </a:ext>
            </a:extLst>
          </p:cNvPr>
          <p:cNvSpPr>
            <a:spLocks noGrp="1"/>
          </p:cNvSpPr>
          <p:nvPr>
            <p:ph type="dt" sz="half" idx="10"/>
          </p:nvPr>
        </p:nvSpPr>
        <p:spPr/>
        <p:txBody>
          <a:bodyPr/>
          <a:lstStyle/>
          <a:p>
            <a:fld id="{724BDE86-EDAA-4F84-8673-E7BB0683A4F7}" type="datetime1">
              <a:rPr lang="en-IN" smtClean="0"/>
              <a:t>02-04-2026</a:t>
            </a:fld>
            <a:endParaRPr lang="en-IN"/>
          </a:p>
        </p:txBody>
      </p:sp>
      <p:sp>
        <p:nvSpPr>
          <p:cNvPr id="5" name="Footer Placeholder 4">
            <a:extLst>
              <a:ext uri="{FF2B5EF4-FFF2-40B4-BE49-F238E27FC236}">
                <a16:creationId xmlns:a16="http://schemas.microsoft.com/office/drawing/2014/main" id="{E7C6C835-ECA6-955F-C13F-B7B7D3BCB0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5318D8-32C6-872F-1062-BB0995AFF81B}"/>
              </a:ext>
            </a:extLst>
          </p:cNvPr>
          <p:cNvSpPr>
            <a:spLocks noGrp="1"/>
          </p:cNvSpPr>
          <p:nvPr>
            <p:ph type="sldNum" sz="quarter" idx="12"/>
          </p:nvPr>
        </p:nvSpPr>
        <p:spPr/>
        <p:txBody>
          <a:bodyPr/>
          <a:lstStyle/>
          <a:p>
            <a:fld id="{B6A08FA2-6E03-4978-AC29-B1ACFE8A3E2D}" type="slidenum">
              <a:rPr lang="en-IN" smtClean="0"/>
              <a:t>‹#›</a:t>
            </a:fld>
            <a:endParaRPr lang="en-IN"/>
          </a:p>
        </p:txBody>
      </p:sp>
    </p:spTree>
    <p:extLst>
      <p:ext uri="{BB962C8B-B14F-4D97-AF65-F5344CB8AC3E}">
        <p14:creationId xmlns:p14="http://schemas.microsoft.com/office/powerpoint/2010/main" val="3837156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41140-3A67-3CB5-B87C-91E440C8F8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729AB90-23C1-EF9D-EA7B-94812F45B6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C936AF-022E-3138-70AD-8FD6704E8E28}"/>
              </a:ext>
            </a:extLst>
          </p:cNvPr>
          <p:cNvSpPr>
            <a:spLocks noGrp="1"/>
          </p:cNvSpPr>
          <p:nvPr>
            <p:ph type="dt" sz="half" idx="10"/>
          </p:nvPr>
        </p:nvSpPr>
        <p:spPr/>
        <p:txBody>
          <a:bodyPr/>
          <a:lstStyle/>
          <a:p>
            <a:fld id="{2D2F39BE-13B1-4CC6-B136-BCD44CD778BD}" type="datetime1">
              <a:rPr lang="en-IN" smtClean="0"/>
              <a:t>02-04-2026</a:t>
            </a:fld>
            <a:endParaRPr lang="en-IN"/>
          </a:p>
        </p:txBody>
      </p:sp>
      <p:sp>
        <p:nvSpPr>
          <p:cNvPr id="5" name="Footer Placeholder 4">
            <a:extLst>
              <a:ext uri="{FF2B5EF4-FFF2-40B4-BE49-F238E27FC236}">
                <a16:creationId xmlns:a16="http://schemas.microsoft.com/office/drawing/2014/main" id="{DFCA8139-F08F-EF16-C3D2-47BBE6AEC3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908CDB-BAB6-82BD-E8AD-6204110B986F}"/>
              </a:ext>
            </a:extLst>
          </p:cNvPr>
          <p:cNvSpPr>
            <a:spLocks noGrp="1"/>
          </p:cNvSpPr>
          <p:nvPr>
            <p:ph type="sldNum" sz="quarter" idx="12"/>
          </p:nvPr>
        </p:nvSpPr>
        <p:spPr/>
        <p:txBody>
          <a:bodyPr/>
          <a:lstStyle/>
          <a:p>
            <a:fld id="{B6A08FA2-6E03-4978-AC29-B1ACFE8A3E2D}" type="slidenum">
              <a:rPr lang="en-IN" smtClean="0"/>
              <a:t>‹#›</a:t>
            </a:fld>
            <a:endParaRPr lang="en-IN"/>
          </a:p>
        </p:txBody>
      </p:sp>
    </p:spTree>
    <p:extLst>
      <p:ext uri="{BB962C8B-B14F-4D97-AF65-F5344CB8AC3E}">
        <p14:creationId xmlns:p14="http://schemas.microsoft.com/office/powerpoint/2010/main" val="3994061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857E8-C7FF-7D07-D10D-AD74E50A984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9E14AEB-EAD4-F1F3-09AB-7C79C3EC08F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1364CD8-096B-5FF2-16A2-0288833EFE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D0DD45E-F94D-8C02-4756-2DE0F015A7AA}"/>
              </a:ext>
            </a:extLst>
          </p:cNvPr>
          <p:cNvSpPr>
            <a:spLocks noGrp="1"/>
          </p:cNvSpPr>
          <p:nvPr>
            <p:ph type="dt" sz="half" idx="10"/>
          </p:nvPr>
        </p:nvSpPr>
        <p:spPr/>
        <p:txBody>
          <a:bodyPr/>
          <a:lstStyle/>
          <a:p>
            <a:fld id="{6A506883-6448-457C-B56F-E31A4C82733F}" type="datetime1">
              <a:rPr lang="en-IN" smtClean="0"/>
              <a:t>02-04-2026</a:t>
            </a:fld>
            <a:endParaRPr lang="en-IN"/>
          </a:p>
        </p:txBody>
      </p:sp>
      <p:sp>
        <p:nvSpPr>
          <p:cNvPr id="6" name="Footer Placeholder 5">
            <a:extLst>
              <a:ext uri="{FF2B5EF4-FFF2-40B4-BE49-F238E27FC236}">
                <a16:creationId xmlns:a16="http://schemas.microsoft.com/office/drawing/2014/main" id="{D631BB58-2F28-0954-0006-EF63C4D6F2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D141D8-8632-826F-6108-C63D3779D02B}"/>
              </a:ext>
            </a:extLst>
          </p:cNvPr>
          <p:cNvSpPr>
            <a:spLocks noGrp="1"/>
          </p:cNvSpPr>
          <p:nvPr>
            <p:ph type="sldNum" sz="quarter" idx="12"/>
          </p:nvPr>
        </p:nvSpPr>
        <p:spPr/>
        <p:txBody>
          <a:bodyPr/>
          <a:lstStyle/>
          <a:p>
            <a:fld id="{B6A08FA2-6E03-4978-AC29-B1ACFE8A3E2D}" type="slidenum">
              <a:rPr lang="en-IN" smtClean="0"/>
              <a:t>‹#›</a:t>
            </a:fld>
            <a:endParaRPr lang="en-IN"/>
          </a:p>
        </p:txBody>
      </p:sp>
    </p:spTree>
    <p:extLst>
      <p:ext uri="{BB962C8B-B14F-4D97-AF65-F5344CB8AC3E}">
        <p14:creationId xmlns:p14="http://schemas.microsoft.com/office/powerpoint/2010/main" val="15529824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CF1C5-351C-FF0F-4338-E296EA0DD40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8F800C-A22E-07E4-ACA7-1BCA7A640C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89109E-4EED-AF9F-E4CC-A6BAF3593D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921F598-7281-8993-86CE-12E794B7E4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4B5926-C830-F889-52FD-11A49525F0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8A8871D-0C56-66EF-5227-AF00D2C10AF7}"/>
              </a:ext>
            </a:extLst>
          </p:cNvPr>
          <p:cNvSpPr>
            <a:spLocks noGrp="1"/>
          </p:cNvSpPr>
          <p:nvPr>
            <p:ph type="dt" sz="half" idx="10"/>
          </p:nvPr>
        </p:nvSpPr>
        <p:spPr/>
        <p:txBody>
          <a:bodyPr/>
          <a:lstStyle/>
          <a:p>
            <a:fld id="{78A816C9-4412-4B42-8150-7782C059C0A5}" type="datetime1">
              <a:rPr lang="en-IN" smtClean="0"/>
              <a:t>02-04-2026</a:t>
            </a:fld>
            <a:endParaRPr lang="en-IN"/>
          </a:p>
        </p:txBody>
      </p:sp>
      <p:sp>
        <p:nvSpPr>
          <p:cNvPr id="8" name="Footer Placeholder 7">
            <a:extLst>
              <a:ext uri="{FF2B5EF4-FFF2-40B4-BE49-F238E27FC236}">
                <a16:creationId xmlns:a16="http://schemas.microsoft.com/office/drawing/2014/main" id="{1C55ECAC-8541-7701-6CBF-C5299143008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B83F4D3-1374-F288-6B25-C2F75408CBF0}"/>
              </a:ext>
            </a:extLst>
          </p:cNvPr>
          <p:cNvSpPr>
            <a:spLocks noGrp="1"/>
          </p:cNvSpPr>
          <p:nvPr>
            <p:ph type="sldNum" sz="quarter" idx="12"/>
          </p:nvPr>
        </p:nvSpPr>
        <p:spPr/>
        <p:txBody>
          <a:bodyPr/>
          <a:lstStyle/>
          <a:p>
            <a:fld id="{B6A08FA2-6E03-4978-AC29-B1ACFE8A3E2D}" type="slidenum">
              <a:rPr lang="en-IN" smtClean="0"/>
              <a:t>‹#›</a:t>
            </a:fld>
            <a:endParaRPr lang="en-IN"/>
          </a:p>
        </p:txBody>
      </p:sp>
    </p:spTree>
    <p:extLst>
      <p:ext uri="{BB962C8B-B14F-4D97-AF65-F5344CB8AC3E}">
        <p14:creationId xmlns:p14="http://schemas.microsoft.com/office/powerpoint/2010/main" val="3550553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39B7B-E72F-0669-9EF9-0D7AFEE02CB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9E10186-1D54-8984-1D4F-E8CF8D46FA3B}"/>
              </a:ext>
            </a:extLst>
          </p:cNvPr>
          <p:cNvSpPr>
            <a:spLocks noGrp="1"/>
          </p:cNvSpPr>
          <p:nvPr>
            <p:ph type="dt" sz="half" idx="10"/>
          </p:nvPr>
        </p:nvSpPr>
        <p:spPr/>
        <p:txBody>
          <a:bodyPr/>
          <a:lstStyle/>
          <a:p>
            <a:fld id="{AE0EB682-B852-4724-B44C-52FB3AA0E5E8}" type="datetime1">
              <a:rPr lang="en-IN" smtClean="0"/>
              <a:t>02-04-2026</a:t>
            </a:fld>
            <a:endParaRPr lang="en-IN"/>
          </a:p>
        </p:txBody>
      </p:sp>
      <p:sp>
        <p:nvSpPr>
          <p:cNvPr id="4" name="Footer Placeholder 3">
            <a:extLst>
              <a:ext uri="{FF2B5EF4-FFF2-40B4-BE49-F238E27FC236}">
                <a16:creationId xmlns:a16="http://schemas.microsoft.com/office/drawing/2014/main" id="{EE15DFF5-64AE-6089-5338-3F391FF5E42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27E70BE-9463-6277-FFA7-93A4CAF7414B}"/>
              </a:ext>
            </a:extLst>
          </p:cNvPr>
          <p:cNvSpPr>
            <a:spLocks noGrp="1"/>
          </p:cNvSpPr>
          <p:nvPr>
            <p:ph type="sldNum" sz="quarter" idx="12"/>
          </p:nvPr>
        </p:nvSpPr>
        <p:spPr/>
        <p:txBody>
          <a:bodyPr/>
          <a:lstStyle/>
          <a:p>
            <a:fld id="{B6A08FA2-6E03-4978-AC29-B1ACFE8A3E2D}" type="slidenum">
              <a:rPr lang="en-IN" smtClean="0"/>
              <a:t>‹#›</a:t>
            </a:fld>
            <a:endParaRPr lang="en-IN"/>
          </a:p>
        </p:txBody>
      </p:sp>
    </p:spTree>
    <p:extLst>
      <p:ext uri="{BB962C8B-B14F-4D97-AF65-F5344CB8AC3E}">
        <p14:creationId xmlns:p14="http://schemas.microsoft.com/office/powerpoint/2010/main" val="2204665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213697-BB8B-148B-CF69-4037E1FF6292}"/>
              </a:ext>
            </a:extLst>
          </p:cNvPr>
          <p:cNvSpPr>
            <a:spLocks noGrp="1"/>
          </p:cNvSpPr>
          <p:nvPr>
            <p:ph type="dt" sz="half" idx="10"/>
          </p:nvPr>
        </p:nvSpPr>
        <p:spPr/>
        <p:txBody>
          <a:bodyPr/>
          <a:lstStyle/>
          <a:p>
            <a:fld id="{54FD49F2-F942-4B20-AFC5-0E3AD4B7694F}" type="datetime1">
              <a:rPr lang="en-IN" smtClean="0"/>
              <a:t>02-04-2026</a:t>
            </a:fld>
            <a:endParaRPr lang="en-IN"/>
          </a:p>
        </p:txBody>
      </p:sp>
      <p:sp>
        <p:nvSpPr>
          <p:cNvPr id="3" name="Footer Placeholder 2">
            <a:extLst>
              <a:ext uri="{FF2B5EF4-FFF2-40B4-BE49-F238E27FC236}">
                <a16:creationId xmlns:a16="http://schemas.microsoft.com/office/drawing/2014/main" id="{A286B66B-09BC-B532-2E93-D79A1B7BB52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B5E936B-7931-3A83-AB29-ECEAECFA3C72}"/>
              </a:ext>
            </a:extLst>
          </p:cNvPr>
          <p:cNvSpPr>
            <a:spLocks noGrp="1"/>
          </p:cNvSpPr>
          <p:nvPr>
            <p:ph type="sldNum" sz="quarter" idx="12"/>
          </p:nvPr>
        </p:nvSpPr>
        <p:spPr/>
        <p:txBody>
          <a:bodyPr/>
          <a:lstStyle/>
          <a:p>
            <a:fld id="{B6A08FA2-6E03-4978-AC29-B1ACFE8A3E2D}" type="slidenum">
              <a:rPr lang="en-IN" smtClean="0"/>
              <a:t>‹#›</a:t>
            </a:fld>
            <a:endParaRPr lang="en-IN"/>
          </a:p>
        </p:txBody>
      </p:sp>
    </p:spTree>
    <p:extLst>
      <p:ext uri="{BB962C8B-B14F-4D97-AF65-F5344CB8AC3E}">
        <p14:creationId xmlns:p14="http://schemas.microsoft.com/office/powerpoint/2010/main" val="1318571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1CC7B-2812-6839-E0D8-139C0D0501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D51E903-3A28-0F27-45D8-D2B7B0D3D9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D9DD839-1AE7-A11E-874E-C48E74BEF6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8581AE-9EBD-8F1F-10EE-19CC728C1D3D}"/>
              </a:ext>
            </a:extLst>
          </p:cNvPr>
          <p:cNvSpPr>
            <a:spLocks noGrp="1"/>
          </p:cNvSpPr>
          <p:nvPr>
            <p:ph type="dt" sz="half" idx="10"/>
          </p:nvPr>
        </p:nvSpPr>
        <p:spPr/>
        <p:txBody>
          <a:bodyPr/>
          <a:lstStyle/>
          <a:p>
            <a:fld id="{28224F94-2DD5-4CDE-BF50-493F2A3266D7}" type="datetime1">
              <a:rPr lang="en-IN" smtClean="0"/>
              <a:t>02-04-2026</a:t>
            </a:fld>
            <a:endParaRPr lang="en-IN"/>
          </a:p>
        </p:txBody>
      </p:sp>
      <p:sp>
        <p:nvSpPr>
          <p:cNvPr id="6" name="Footer Placeholder 5">
            <a:extLst>
              <a:ext uri="{FF2B5EF4-FFF2-40B4-BE49-F238E27FC236}">
                <a16:creationId xmlns:a16="http://schemas.microsoft.com/office/drawing/2014/main" id="{50C44418-1993-F843-348C-42E871BB4E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CF6435-C09E-7D13-4F30-508D77CE53C2}"/>
              </a:ext>
            </a:extLst>
          </p:cNvPr>
          <p:cNvSpPr>
            <a:spLocks noGrp="1"/>
          </p:cNvSpPr>
          <p:nvPr>
            <p:ph type="sldNum" sz="quarter" idx="12"/>
          </p:nvPr>
        </p:nvSpPr>
        <p:spPr/>
        <p:txBody>
          <a:bodyPr/>
          <a:lstStyle/>
          <a:p>
            <a:fld id="{B6A08FA2-6E03-4978-AC29-B1ACFE8A3E2D}" type="slidenum">
              <a:rPr lang="en-IN" smtClean="0"/>
              <a:t>‹#›</a:t>
            </a:fld>
            <a:endParaRPr lang="en-IN"/>
          </a:p>
        </p:txBody>
      </p:sp>
    </p:spTree>
    <p:extLst>
      <p:ext uri="{BB962C8B-B14F-4D97-AF65-F5344CB8AC3E}">
        <p14:creationId xmlns:p14="http://schemas.microsoft.com/office/powerpoint/2010/main" val="842005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43CD1-5410-1DA9-7228-B2F018E711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9D01CA9-B7C7-25AD-3E52-2F37243150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01427CD-AF08-3726-8FAA-A57C006436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F0F8AC-9193-3066-579C-5D371F128CA0}"/>
              </a:ext>
            </a:extLst>
          </p:cNvPr>
          <p:cNvSpPr>
            <a:spLocks noGrp="1"/>
          </p:cNvSpPr>
          <p:nvPr>
            <p:ph type="dt" sz="half" idx="10"/>
          </p:nvPr>
        </p:nvSpPr>
        <p:spPr/>
        <p:txBody>
          <a:bodyPr/>
          <a:lstStyle/>
          <a:p>
            <a:fld id="{29D4F964-07F3-48B0-9FEC-183785D2821F}" type="datetime1">
              <a:rPr lang="en-IN" smtClean="0"/>
              <a:t>02-04-2026</a:t>
            </a:fld>
            <a:endParaRPr lang="en-IN"/>
          </a:p>
        </p:txBody>
      </p:sp>
      <p:sp>
        <p:nvSpPr>
          <p:cNvPr id="6" name="Footer Placeholder 5">
            <a:extLst>
              <a:ext uri="{FF2B5EF4-FFF2-40B4-BE49-F238E27FC236}">
                <a16:creationId xmlns:a16="http://schemas.microsoft.com/office/drawing/2014/main" id="{0804E56E-7994-6879-393B-FB1D8179BC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373E1B-ACEA-671B-9925-98DDD4FAF635}"/>
              </a:ext>
            </a:extLst>
          </p:cNvPr>
          <p:cNvSpPr>
            <a:spLocks noGrp="1"/>
          </p:cNvSpPr>
          <p:nvPr>
            <p:ph type="sldNum" sz="quarter" idx="12"/>
          </p:nvPr>
        </p:nvSpPr>
        <p:spPr/>
        <p:txBody>
          <a:bodyPr/>
          <a:lstStyle/>
          <a:p>
            <a:fld id="{B6A08FA2-6E03-4978-AC29-B1ACFE8A3E2D}" type="slidenum">
              <a:rPr lang="en-IN" smtClean="0"/>
              <a:t>‹#›</a:t>
            </a:fld>
            <a:endParaRPr lang="en-IN"/>
          </a:p>
        </p:txBody>
      </p:sp>
    </p:spTree>
    <p:extLst>
      <p:ext uri="{BB962C8B-B14F-4D97-AF65-F5344CB8AC3E}">
        <p14:creationId xmlns:p14="http://schemas.microsoft.com/office/powerpoint/2010/main" val="3957951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93DC8-4DED-7E64-5035-8876855EB34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59E2D9-241D-EEDB-63A9-B2A35C9BEF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02493B7-E45B-1998-1F3A-78743F9FD9DC}"/>
              </a:ext>
            </a:extLst>
          </p:cNvPr>
          <p:cNvSpPr>
            <a:spLocks noGrp="1"/>
          </p:cNvSpPr>
          <p:nvPr>
            <p:ph type="dt" sz="half" idx="10"/>
          </p:nvPr>
        </p:nvSpPr>
        <p:spPr/>
        <p:txBody>
          <a:bodyPr/>
          <a:lstStyle/>
          <a:p>
            <a:fld id="{D4B74B32-A9E9-4276-83A7-902B7F400383}" type="datetime1">
              <a:rPr lang="en-IN" smtClean="0"/>
              <a:t>02-04-2026</a:t>
            </a:fld>
            <a:endParaRPr lang="en-IN"/>
          </a:p>
        </p:txBody>
      </p:sp>
      <p:sp>
        <p:nvSpPr>
          <p:cNvPr id="5" name="Footer Placeholder 4">
            <a:extLst>
              <a:ext uri="{FF2B5EF4-FFF2-40B4-BE49-F238E27FC236}">
                <a16:creationId xmlns:a16="http://schemas.microsoft.com/office/drawing/2014/main" id="{FBD7813D-479D-AF61-49FB-BA944D6910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B85E31-541B-32EB-2A5E-5FC484A1EB65}"/>
              </a:ext>
            </a:extLst>
          </p:cNvPr>
          <p:cNvSpPr>
            <a:spLocks noGrp="1"/>
          </p:cNvSpPr>
          <p:nvPr>
            <p:ph type="sldNum" sz="quarter" idx="12"/>
          </p:nvPr>
        </p:nvSpPr>
        <p:spPr/>
        <p:txBody>
          <a:bodyPr/>
          <a:lstStyle/>
          <a:p>
            <a:fld id="{B6A08FA2-6E03-4978-AC29-B1ACFE8A3E2D}" type="slidenum">
              <a:rPr lang="en-IN" smtClean="0"/>
              <a:t>‹#›</a:t>
            </a:fld>
            <a:endParaRPr lang="en-IN"/>
          </a:p>
        </p:txBody>
      </p:sp>
    </p:spTree>
    <p:extLst>
      <p:ext uri="{BB962C8B-B14F-4D97-AF65-F5344CB8AC3E}">
        <p14:creationId xmlns:p14="http://schemas.microsoft.com/office/powerpoint/2010/main" val="3770072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5D4A72-8FC8-9FFA-D79F-1B931E3FD9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057D4D-DE4F-040D-4D5E-3046AFB04A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A328EC-F0C7-659F-D01A-C22DB719AF19}"/>
              </a:ext>
            </a:extLst>
          </p:cNvPr>
          <p:cNvSpPr>
            <a:spLocks noGrp="1"/>
          </p:cNvSpPr>
          <p:nvPr>
            <p:ph type="dt" sz="half" idx="10"/>
          </p:nvPr>
        </p:nvSpPr>
        <p:spPr/>
        <p:txBody>
          <a:bodyPr/>
          <a:lstStyle/>
          <a:p>
            <a:fld id="{A1EF84DC-9173-4658-B3EA-269020D94500}" type="datetime1">
              <a:rPr lang="en-IN" smtClean="0"/>
              <a:t>02-04-2026</a:t>
            </a:fld>
            <a:endParaRPr lang="en-IN"/>
          </a:p>
        </p:txBody>
      </p:sp>
      <p:sp>
        <p:nvSpPr>
          <p:cNvPr id="5" name="Footer Placeholder 4">
            <a:extLst>
              <a:ext uri="{FF2B5EF4-FFF2-40B4-BE49-F238E27FC236}">
                <a16:creationId xmlns:a16="http://schemas.microsoft.com/office/drawing/2014/main" id="{E597EEA2-E42A-72B3-2DA9-F7E5ADD6D1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FE1EB3-A802-EFC6-7F9A-7F27D9085DDD}"/>
              </a:ext>
            </a:extLst>
          </p:cNvPr>
          <p:cNvSpPr>
            <a:spLocks noGrp="1"/>
          </p:cNvSpPr>
          <p:nvPr>
            <p:ph type="sldNum" sz="quarter" idx="12"/>
          </p:nvPr>
        </p:nvSpPr>
        <p:spPr/>
        <p:txBody>
          <a:bodyPr/>
          <a:lstStyle/>
          <a:p>
            <a:fld id="{B6A08FA2-6E03-4978-AC29-B1ACFE8A3E2D}" type="slidenum">
              <a:rPr lang="en-IN" smtClean="0"/>
              <a:t>‹#›</a:t>
            </a:fld>
            <a:endParaRPr lang="en-IN"/>
          </a:p>
        </p:txBody>
      </p:sp>
    </p:spTree>
    <p:extLst>
      <p:ext uri="{BB962C8B-B14F-4D97-AF65-F5344CB8AC3E}">
        <p14:creationId xmlns:p14="http://schemas.microsoft.com/office/powerpoint/2010/main" val="1655785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1894CF-7A3B-86AF-DA5E-FE17EDF82A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1184D8-6BAE-2DDC-B3F5-B2B6DAD447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9A6D96-2E95-9CD4-FCD4-89256033E6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13D9282-2D87-4F06-BAC4-DC8B14CE8012}" type="datetime1">
              <a:rPr lang="en-IN" smtClean="0"/>
              <a:t>02-04-2026</a:t>
            </a:fld>
            <a:endParaRPr lang="en-IN"/>
          </a:p>
        </p:txBody>
      </p:sp>
      <p:sp>
        <p:nvSpPr>
          <p:cNvPr id="5" name="Footer Placeholder 4">
            <a:extLst>
              <a:ext uri="{FF2B5EF4-FFF2-40B4-BE49-F238E27FC236}">
                <a16:creationId xmlns:a16="http://schemas.microsoft.com/office/drawing/2014/main" id="{C50DBF4B-1096-A70D-93E6-D7C942169C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9129B82-16DD-C092-3F81-633D338DBE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A08FA2-6E03-4978-AC29-B1ACFE8A3E2D}" type="slidenum">
              <a:rPr lang="en-IN" smtClean="0"/>
              <a:t>‹#›</a:t>
            </a:fld>
            <a:endParaRPr lang="en-IN"/>
          </a:p>
        </p:txBody>
      </p:sp>
    </p:spTree>
    <p:extLst>
      <p:ext uri="{BB962C8B-B14F-4D97-AF65-F5344CB8AC3E}">
        <p14:creationId xmlns:p14="http://schemas.microsoft.com/office/powerpoint/2010/main" val="26455283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2C082-4783-3F0B-9EC6-25645937E192}"/>
              </a:ext>
            </a:extLst>
          </p:cNvPr>
          <p:cNvSpPr>
            <a:spLocks noGrp="1"/>
          </p:cNvSpPr>
          <p:nvPr>
            <p:ph type="ctrTitle"/>
          </p:nvPr>
        </p:nvSpPr>
        <p:spPr>
          <a:xfrm>
            <a:off x="2693671" y="0"/>
            <a:ext cx="8279129" cy="1122363"/>
          </a:xfrm>
          <a:ln>
            <a:solidFill>
              <a:schemeClr val="accent1">
                <a:lumMod val="75000"/>
              </a:schemeClr>
            </a:solidFill>
          </a:ln>
        </p:spPr>
        <p:txBody>
          <a:bodyPr anchor="ctr">
            <a:noAutofit/>
          </a:bodyPr>
          <a:lstStyle/>
          <a:p>
            <a:r>
              <a:rPr lang="en-US" sz="3600" b="1" dirty="0">
                <a:latin typeface="Times New Roman" panose="02020603050405020304" pitchFamily="18" charset="0"/>
                <a:cs typeface="Times New Roman" panose="02020603050405020304" pitchFamily="18" charset="0"/>
              </a:rPr>
              <a:t>Department of Information Technology</a:t>
            </a:r>
            <a:endParaRPr lang="en-IN" sz="36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CFEFCD3-3C75-35E2-D6EC-2AFC39620FD5}"/>
              </a:ext>
            </a:extLst>
          </p:cNvPr>
          <p:cNvSpPr>
            <a:spLocks noGrp="1"/>
          </p:cNvSpPr>
          <p:nvPr>
            <p:ph type="subTitle" idx="1"/>
          </p:nvPr>
        </p:nvSpPr>
        <p:spPr>
          <a:xfrm>
            <a:off x="0" y="1699383"/>
            <a:ext cx="12191999" cy="1655762"/>
          </a:xfrm>
        </p:spPr>
        <p:txBody>
          <a:bodyPr>
            <a:noAutofit/>
          </a:bodyPr>
          <a:lstStyle/>
          <a:p>
            <a:pPr>
              <a:lnSpc>
                <a:spcPct val="150000"/>
              </a:lnSpc>
            </a:pPr>
            <a:r>
              <a:rPr lang="en-US" sz="3800" b="1" dirty="0">
                <a:latin typeface="Times New Roman" panose="02020603050405020304" pitchFamily="18" charset="0"/>
                <a:cs typeface="Times New Roman" panose="02020603050405020304" pitchFamily="18" charset="0"/>
              </a:rPr>
              <a:t>AI-DRIVEN ECG IMAGE ANALYSIS AND CLINICAL INTERPRETATION SYSTEM</a:t>
            </a:r>
            <a:r>
              <a:rPr lang="en-US" sz="3800" dirty="0">
                <a:latin typeface="Times New Roman" panose="02020603050405020304" pitchFamily="18" charset="0"/>
                <a:cs typeface="Times New Roman" panose="02020603050405020304" pitchFamily="18" charset="0"/>
              </a:rPr>
              <a:t>​</a:t>
            </a:r>
            <a:endParaRPr lang="en-IN" sz="3800" b="1"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E601AF6C-F3EB-977E-9DB3-2754D73772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693671" cy="112236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3CB87B0-2C3A-FA84-0969-EAACF959DDFB}"/>
              </a:ext>
            </a:extLst>
          </p:cNvPr>
          <p:cNvSpPr txBox="1"/>
          <p:nvPr/>
        </p:nvSpPr>
        <p:spPr>
          <a:xfrm>
            <a:off x="445477" y="5158617"/>
            <a:ext cx="3516923" cy="1200329"/>
          </a:xfrm>
          <a:prstGeom prst="rect">
            <a:avLst/>
          </a:prstGeom>
          <a:noFill/>
          <a:ln>
            <a:solidFill>
              <a:schemeClr val="accent1">
                <a:lumMod val="75000"/>
              </a:schemeClr>
            </a:solidFill>
          </a:ln>
        </p:spPr>
        <p:txBody>
          <a:bodyPr wrap="square" rtlCol="0">
            <a:spAutoFit/>
          </a:bodyPr>
          <a:lstStyle/>
          <a:p>
            <a:r>
              <a:rPr lang="en-US" b="1" dirty="0">
                <a:latin typeface="Times New Roman" panose="02020603050405020304" pitchFamily="18" charset="0"/>
                <a:cs typeface="Times New Roman" panose="02020603050405020304" pitchFamily="18" charset="0"/>
              </a:rPr>
              <a:t>Project Guide:</a:t>
            </a:r>
          </a:p>
          <a:p>
            <a:r>
              <a:rPr lang="en-US" dirty="0">
                <a:latin typeface="Times New Roman" panose="02020603050405020304" pitchFamily="18" charset="0"/>
                <a:cs typeface="Times New Roman" panose="02020603050405020304" pitchFamily="18" charset="0"/>
              </a:rPr>
              <a:t>Dr. Y. Suresh</a:t>
            </a: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406C4D5-4260-EE20-5032-89C70841E0D2}"/>
              </a:ext>
            </a:extLst>
          </p:cNvPr>
          <p:cNvSpPr txBox="1"/>
          <p:nvPr/>
        </p:nvSpPr>
        <p:spPr>
          <a:xfrm>
            <a:off x="7748954" y="5158617"/>
            <a:ext cx="4088718" cy="1200329"/>
          </a:xfrm>
          <a:prstGeom prst="rect">
            <a:avLst/>
          </a:prstGeom>
          <a:noFill/>
          <a:ln>
            <a:solidFill>
              <a:schemeClr val="accent1">
                <a:lumMod val="75000"/>
              </a:schemeClr>
            </a:solidFill>
          </a:ln>
        </p:spPr>
        <p:txBody>
          <a:bodyPr wrap="square" rtlCol="0">
            <a:spAutoFit/>
          </a:bodyPr>
          <a:lstStyle/>
          <a:p>
            <a:r>
              <a:rPr lang="en-US" b="1" dirty="0">
                <a:latin typeface="Times New Roman" panose="02020603050405020304" pitchFamily="18" charset="0"/>
                <a:cs typeface="Times New Roman" panose="02020603050405020304" pitchFamily="18" charset="0"/>
              </a:rPr>
              <a:t>Project Team Members:</a:t>
            </a:r>
          </a:p>
          <a:p>
            <a:r>
              <a:rPr lang="en-US" dirty="0">
                <a:latin typeface="Times New Roman" panose="02020603050405020304" pitchFamily="18" charset="0"/>
                <a:cs typeface="Times New Roman" panose="02020603050405020304" pitchFamily="18" charset="0"/>
              </a:rPr>
              <a:t>BarathKumar S      (61781922106014)</a:t>
            </a:r>
          </a:p>
          <a:p>
            <a:r>
              <a:rPr lang="en-US" dirty="0">
                <a:latin typeface="Times New Roman" panose="02020603050405020304" pitchFamily="18" charset="0"/>
                <a:cs typeface="Times New Roman" panose="02020603050405020304" pitchFamily="18" charset="0"/>
              </a:rPr>
              <a:t>Dharanidharan S    (61781922106021)</a:t>
            </a:r>
          </a:p>
          <a:p>
            <a:r>
              <a:rPr lang="en-US" dirty="0">
                <a:latin typeface="Times New Roman" panose="02020603050405020304" pitchFamily="18" charset="0"/>
                <a:cs typeface="Times New Roman" panose="02020603050405020304" pitchFamily="18" charset="0"/>
              </a:rPr>
              <a:t>Dharshana Devi S  (61781922106022)</a:t>
            </a:r>
          </a:p>
        </p:txBody>
      </p:sp>
      <p:pic>
        <p:nvPicPr>
          <p:cNvPr id="6" name="Picture 5">
            <a:extLst>
              <a:ext uri="{FF2B5EF4-FFF2-40B4-BE49-F238E27FC236}">
                <a16:creationId xmlns:a16="http://schemas.microsoft.com/office/drawing/2014/main" id="{CB474076-628F-3EFB-1343-490B0E773BE4}"/>
              </a:ext>
            </a:extLst>
          </p:cNvPr>
          <p:cNvPicPr>
            <a:picLocks noChangeAspect="1"/>
          </p:cNvPicPr>
          <p:nvPr/>
        </p:nvPicPr>
        <p:blipFill>
          <a:blip r:embed="rId3"/>
          <a:stretch>
            <a:fillRect/>
          </a:stretch>
        </p:blipFill>
        <p:spPr>
          <a:xfrm>
            <a:off x="10972800" y="0"/>
            <a:ext cx="1219199" cy="1211016"/>
          </a:xfrm>
          <a:prstGeom prst="rect">
            <a:avLst/>
          </a:prstGeom>
        </p:spPr>
      </p:pic>
    </p:spTree>
    <p:extLst>
      <p:ext uri="{BB962C8B-B14F-4D97-AF65-F5344CB8AC3E}">
        <p14:creationId xmlns:p14="http://schemas.microsoft.com/office/powerpoint/2010/main" val="2178316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35BF5-1452-0F40-5060-BBF6D5B6397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B08A0E4-B4B7-4C97-19C6-AB43299E67F1}"/>
              </a:ext>
            </a:extLst>
          </p:cNvPr>
          <p:cNvSpPr>
            <a:spLocks noGrp="1"/>
          </p:cNvSpPr>
          <p:nvPr>
            <p:ph idx="1"/>
          </p:nvPr>
        </p:nvSpPr>
        <p:spPr>
          <a:xfrm>
            <a:off x="838200" y="1690688"/>
            <a:ext cx="10515600" cy="4351338"/>
          </a:xfrm>
        </p:spPr>
        <p:txBody>
          <a:bodyPr>
            <a:noAutofit/>
          </a:bodyPr>
          <a:lstStyle/>
          <a:p>
            <a:pPr algn="just">
              <a:lnSpc>
                <a:spcPct val="150000"/>
              </a:lnSpc>
            </a:pPr>
            <a:r>
              <a:rPr lang="en-US" sz="1900" dirty="0">
                <a:latin typeface="Times New Roman" panose="02020603050405020304" pitchFamily="18" charset="0"/>
                <a:cs typeface="Times New Roman" panose="02020603050405020304" pitchFamily="18" charset="0"/>
              </a:rPr>
              <a:t>Cardiovascular diseases (CVDs) are a leading global cause of death, requiring fast and accurate cardiac diagnosis</a:t>
            </a:r>
          </a:p>
          <a:p>
            <a:pPr algn="just">
              <a:lnSpc>
                <a:spcPct val="150000"/>
              </a:lnSpc>
            </a:pPr>
            <a:r>
              <a:rPr lang="en-US" sz="1900" dirty="0">
                <a:latin typeface="Times New Roman" panose="02020603050405020304" pitchFamily="18" charset="0"/>
                <a:cs typeface="Times New Roman" panose="02020603050405020304" pitchFamily="18" charset="0"/>
              </a:rPr>
              <a:t>Traditional ECG interpretation depends on expert knowledge, is time‑consuming, and prone to human error</a:t>
            </a:r>
          </a:p>
          <a:p>
            <a:pPr algn="just">
              <a:lnSpc>
                <a:spcPct val="150000"/>
              </a:lnSpc>
            </a:pPr>
            <a:r>
              <a:rPr lang="en-US" sz="1900" dirty="0">
                <a:latin typeface="Times New Roman" panose="02020603050405020304" pitchFamily="18" charset="0"/>
                <a:cs typeface="Times New Roman" panose="02020603050405020304" pitchFamily="18" charset="0"/>
              </a:rPr>
              <a:t>Automatically preprocesses ECG images and classifies cardiac conditions like arrhythmia, myocardial infarction</a:t>
            </a:r>
          </a:p>
          <a:p>
            <a:pPr algn="just">
              <a:lnSpc>
                <a:spcPct val="150000"/>
              </a:lnSpc>
            </a:pPr>
            <a:r>
              <a:rPr lang="en-US" sz="1900" dirty="0">
                <a:latin typeface="Times New Roman" panose="02020603050405020304" pitchFamily="18" charset="0"/>
                <a:cs typeface="Times New Roman" panose="02020603050405020304" pitchFamily="18" charset="0"/>
              </a:rPr>
              <a:t>Generative AI with NLP produces detailed clinical reports including diagnosis, causes, treatment, and recovery guidance</a:t>
            </a:r>
          </a:p>
          <a:p>
            <a:pPr algn="just">
              <a:lnSpc>
                <a:spcPct val="150000"/>
              </a:lnSpc>
            </a:pPr>
            <a:r>
              <a:rPr lang="en-US" sz="1900" dirty="0">
                <a:latin typeface="Times New Roman" panose="02020603050405020304" pitchFamily="18" charset="0"/>
                <a:cs typeface="Times New Roman" panose="02020603050405020304" pitchFamily="18" charset="0"/>
              </a:rPr>
              <a:t>Smart, user‑friendly decision‑support tool for clinicians, students, and telemedicine platforms </a:t>
            </a:r>
          </a:p>
          <a:p>
            <a:pPr algn="just">
              <a:lnSpc>
                <a:spcPct val="150000"/>
              </a:lnSpc>
            </a:pPr>
            <a:endParaRPr lang="en-US" sz="1900" dirty="0">
              <a:latin typeface="Times New Roman" panose="02020603050405020304" pitchFamily="18" charset="0"/>
              <a:cs typeface="Times New Roman" panose="02020603050405020304" pitchFamily="18" charset="0"/>
            </a:endParaRPr>
          </a:p>
          <a:p>
            <a:pPr algn="just">
              <a:lnSpc>
                <a:spcPct val="150000"/>
              </a:lnSpc>
            </a:pPr>
            <a:endParaRPr lang="en-US" sz="1900" dirty="0">
              <a:latin typeface="Times New Roman" panose="02020603050405020304" pitchFamily="18" charset="0"/>
              <a:cs typeface="Times New Roman" panose="02020603050405020304" pitchFamily="18" charset="0"/>
            </a:endParaRPr>
          </a:p>
          <a:p>
            <a:pPr algn="just">
              <a:lnSpc>
                <a:spcPct val="150000"/>
              </a:lnSpc>
            </a:pPr>
            <a:endParaRPr lang="en-IN" sz="1900" dirty="0">
              <a:latin typeface="Times New Roman" panose="02020603050405020304" pitchFamily="18" charset="0"/>
              <a:cs typeface="Times New Roman" panose="02020603050405020304" pitchFamily="18" charset="0"/>
            </a:endParaRPr>
          </a:p>
          <a:p>
            <a:pPr algn="just">
              <a:lnSpc>
                <a:spcPct val="150000"/>
              </a:lnSpc>
            </a:pPr>
            <a:endParaRPr lang="en-IN" sz="1900" dirty="0">
              <a:latin typeface="Times New Roman" panose="02020603050405020304" pitchFamily="18" charset="0"/>
              <a:cs typeface="Times New Roman" panose="02020603050405020304" pitchFamily="18" charset="0"/>
            </a:endParaRPr>
          </a:p>
          <a:p>
            <a:pPr marL="0" indent="0" algn="just">
              <a:buNone/>
            </a:pPr>
            <a:endParaRPr lang="en-IN" sz="1900" dirty="0">
              <a:latin typeface="Times New Roman" panose="02020603050405020304" pitchFamily="18" charset="0"/>
              <a:cs typeface="Times New Roman" panose="02020603050405020304" pitchFamily="18" charset="0"/>
            </a:endParaRPr>
          </a:p>
          <a:p>
            <a:pPr algn="just"/>
            <a:endParaRPr lang="en-IN" sz="1900" dirty="0">
              <a:latin typeface="Times New Roman" panose="02020603050405020304" pitchFamily="18" charset="0"/>
              <a:cs typeface="Times New Roman" panose="02020603050405020304" pitchFamily="18" charset="0"/>
            </a:endParaRPr>
          </a:p>
          <a:p>
            <a:pPr algn="just"/>
            <a:endParaRPr lang="en-IN" sz="19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EECAC99-F55F-638C-3095-FC6C74D64CED}"/>
              </a:ext>
            </a:extLst>
          </p:cNvPr>
          <p:cNvSpPr>
            <a:spLocks noGrp="1"/>
          </p:cNvSpPr>
          <p:nvPr>
            <p:ph type="dt" sz="half" idx="10"/>
          </p:nvPr>
        </p:nvSpPr>
        <p:spPr/>
        <p:txBody>
          <a:bodyPr/>
          <a:lstStyle/>
          <a:p>
            <a:fld id="{6EFB08EF-4B33-492B-AA33-D3BC419B1759}" type="datetime1">
              <a:rPr lang="en-IN" smtClean="0"/>
              <a:t>02-04-2026</a:t>
            </a:fld>
            <a:endParaRPr lang="en-IN"/>
          </a:p>
        </p:txBody>
      </p:sp>
      <p:sp>
        <p:nvSpPr>
          <p:cNvPr id="6" name="Slide Number Placeholder 5">
            <a:extLst>
              <a:ext uri="{FF2B5EF4-FFF2-40B4-BE49-F238E27FC236}">
                <a16:creationId xmlns:a16="http://schemas.microsoft.com/office/drawing/2014/main" id="{55BBB4F7-214D-32C8-2ACB-F479653BFB64}"/>
              </a:ext>
            </a:extLst>
          </p:cNvPr>
          <p:cNvSpPr>
            <a:spLocks noGrp="1"/>
          </p:cNvSpPr>
          <p:nvPr>
            <p:ph type="sldNum" sz="quarter" idx="12"/>
          </p:nvPr>
        </p:nvSpPr>
        <p:spPr/>
        <p:txBody>
          <a:bodyPr/>
          <a:lstStyle/>
          <a:p>
            <a:fld id="{B6A08FA2-6E03-4978-AC29-B1ACFE8A3E2D}" type="slidenum">
              <a:rPr lang="en-IN" smtClean="0"/>
              <a:t>2</a:t>
            </a:fld>
            <a:endParaRPr lang="en-IN"/>
          </a:p>
        </p:txBody>
      </p:sp>
    </p:spTree>
    <p:extLst>
      <p:ext uri="{BB962C8B-B14F-4D97-AF65-F5344CB8AC3E}">
        <p14:creationId xmlns:p14="http://schemas.microsoft.com/office/powerpoint/2010/main" val="2683659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28A0-978F-3912-AED8-E758C1208B2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96989CE-3BFA-7AA3-FCC8-DA9D29AA8D80}"/>
              </a:ext>
            </a:extLst>
          </p:cNvPr>
          <p:cNvSpPr>
            <a:spLocks noGrp="1"/>
          </p:cNvSpPr>
          <p:nvPr>
            <p:ph idx="1"/>
          </p:nvPr>
        </p:nvSpPr>
        <p:spPr/>
        <p:txBody>
          <a:bodyPr>
            <a:normAutofit/>
          </a:bodyPr>
          <a:lstStyle/>
          <a:p>
            <a:pPr algn="just">
              <a:lnSpc>
                <a:spcPct val="150000"/>
              </a:lnSpc>
            </a:pPr>
            <a:r>
              <a:rPr lang="en-US" sz="1900" dirty="0">
                <a:latin typeface="Times New Roman" panose="02020603050405020304" pitchFamily="18" charset="0"/>
                <a:cs typeface="Times New Roman" panose="02020603050405020304" pitchFamily="18" charset="0"/>
              </a:rPr>
              <a:t>Develop an intelligent system for automatic analysis of ECG images</a:t>
            </a:r>
          </a:p>
          <a:p>
            <a:pPr algn="just">
              <a:lnSpc>
                <a:spcPct val="150000"/>
              </a:lnSpc>
            </a:pPr>
            <a:r>
              <a:rPr lang="en-US" sz="1900" dirty="0">
                <a:latin typeface="Times New Roman" panose="02020603050405020304" pitchFamily="18" charset="0"/>
                <a:cs typeface="Times New Roman" panose="02020603050405020304" pitchFamily="18" charset="0"/>
              </a:rPr>
              <a:t>Accurately identify and classify cardiac abnormalities </a:t>
            </a:r>
            <a:r>
              <a:rPr lang="en-US" sz="2000" dirty="0">
                <a:latin typeface="Times New Roman" panose="02020603050405020304" pitchFamily="18" charset="0"/>
                <a:cs typeface="Times New Roman" panose="02020603050405020304" pitchFamily="18" charset="0"/>
              </a:rPr>
              <a:t>such as arrhythmia, myocardial infarction, tachycardia, and bradycardia</a:t>
            </a:r>
            <a:endParaRPr lang="en-US" sz="1900" dirty="0">
              <a:latin typeface="Times New Roman" panose="02020603050405020304" pitchFamily="18" charset="0"/>
              <a:cs typeface="Times New Roman" panose="02020603050405020304" pitchFamily="18" charset="0"/>
            </a:endParaRPr>
          </a:p>
          <a:p>
            <a:pPr algn="just">
              <a:lnSpc>
                <a:spcPct val="150000"/>
              </a:lnSpc>
            </a:pPr>
            <a:r>
              <a:rPr lang="en-US" sz="1900" dirty="0">
                <a:latin typeface="Times New Roman" panose="02020603050405020304" pitchFamily="18" charset="0"/>
                <a:cs typeface="Times New Roman" panose="02020603050405020304" pitchFamily="18" charset="0"/>
              </a:rPr>
              <a:t>Generate human‑readable clinical interpretations using AI and NLP techniques</a:t>
            </a:r>
          </a:p>
          <a:p>
            <a:pPr algn="just">
              <a:lnSpc>
                <a:spcPct val="150000"/>
              </a:lnSpc>
            </a:pPr>
            <a:r>
              <a:rPr lang="en-US" sz="1900" dirty="0">
                <a:latin typeface="Times New Roman" panose="02020603050405020304" pitchFamily="18" charset="0"/>
                <a:cs typeface="Times New Roman" panose="02020603050405020304" pitchFamily="18" charset="0"/>
              </a:rPr>
              <a:t>Provide insights including possible causes, treatment recommendations, and recovery guidelines</a:t>
            </a:r>
          </a:p>
          <a:p>
            <a:pPr algn="just">
              <a:lnSpc>
                <a:spcPct val="150000"/>
              </a:lnSpc>
            </a:pPr>
            <a:r>
              <a:rPr lang="en-US" sz="1900" dirty="0">
                <a:latin typeface="Times New Roman" panose="02020603050405020304" pitchFamily="18" charset="0"/>
                <a:cs typeface="Times New Roman" panose="02020603050405020304" pitchFamily="18" charset="0"/>
              </a:rPr>
              <a:t>Support healthcare professionals, medical students, and telemedicine platforms </a:t>
            </a:r>
            <a:r>
              <a:rPr lang="en-US" sz="2000" dirty="0">
                <a:latin typeface="Times New Roman" panose="02020603050405020304" pitchFamily="18" charset="0"/>
                <a:cs typeface="Times New Roman" panose="02020603050405020304" pitchFamily="18" charset="0"/>
              </a:rPr>
              <a:t>by improving diagnostic speed, accuracy, and reliability while reducing human effort and errors</a:t>
            </a:r>
            <a:endParaRPr lang="en-IN" sz="1900" dirty="0">
              <a:latin typeface="Times New Roman" panose="02020603050405020304" pitchFamily="18" charset="0"/>
              <a:cs typeface="Times New Roman" panose="02020603050405020304" pitchFamily="18" charset="0"/>
            </a:endParaRPr>
          </a:p>
          <a:p>
            <a:pPr algn="just"/>
            <a:endParaRPr lang="en-IN" sz="1900" dirty="0">
              <a:latin typeface="Times New Roman" panose="02020603050405020304" pitchFamily="18" charset="0"/>
              <a:cs typeface="Times New Roman" panose="02020603050405020304" pitchFamily="18" charset="0"/>
            </a:endParaRPr>
          </a:p>
          <a:p>
            <a:pPr algn="just"/>
            <a:endParaRPr lang="en-IN" sz="1900" dirty="0">
              <a:latin typeface="Times New Roman" panose="02020603050405020304" pitchFamily="18" charset="0"/>
              <a:cs typeface="Times New Roman" panose="02020603050405020304" pitchFamily="18" charset="0"/>
            </a:endParaRPr>
          </a:p>
          <a:p>
            <a:pPr algn="just"/>
            <a:endParaRPr lang="en-IN" sz="19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7060253-485B-A551-20D4-2831B7AFD562}"/>
              </a:ext>
            </a:extLst>
          </p:cNvPr>
          <p:cNvSpPr>
            <a:spLocks noGrp="1"/>
          </p:cNvSpPr>
          <p:nvPr>
            <p:ph type="dt" sz="half" idx="10"/>
          </p:nvPr>
        </p:nvSpPr>
        <p:spPr/>
        <p:txBody>
          <a:bodyPr/>
          <a:lstStyle/>
          <a:p>
            <a:fld id="{E491FFA2-BF4E-4986-8EDC-B62F31D50825}" type="datetime1">
              <a:rPr lang="en-IN" smtClean="0"/>
              <a:t>02-04-2026</a:t>
            </a:fld>
            <a:endParaRPr lang="en-IN"/>
          </a:p>
        </p:txBody>
      </p:sp>
      <p:sp>
        <p:nvSpPr>
          <p:cNvPr id="6" name="Slide Number Placeholder 5">
            <a:extLst>
              <a:ext uri="{FF2B5EF4-FFF2-40B4-BE49-F238E27FC236}">
                <a16:creationId xmlns:a16="http://schemas.microsoft.com/office/drawing/2014/main" id="{07086A39-8288-5B56-EB37-ED1CF52E2F19}"/>
              </a:ext>
            </a:extLst>
          </p:cNvPr>
          <p:cNvSpPr>
            <a:spLocks noGrp="1"/>
          </p:cNvSpPr>
          <p:nvPr>
            <p:ph type="sldNum" sz="quarter" idx="12"/>
          </p:nvPr>
        </p:nvSpPr>
        <p:spPr/>
        <p:txBody>
          <a:bodyPr/>
          <a:lstStyle/>
          <a:p>
            <a:fld id="{B6A08FA2-6E03-4978-AC29-B1ACFE8A3E2D}" type="slidenum">
              <a:rPr lang="en-IN" smtClean="0"/>
              <a:t>3</a:t>
            </a:fld>
            <a:endParaRPr lang="en-IN"/>
          </a:p>
        </p:txBody>
      </p:sp>
    </p:spTree>
    <p:extLst>
      <p:ext uri="{BB962C8B-B14F-4D97-AF65-F5344CB8AC3E}">
        <p14:creationId xmlns:p14="http://schemas.microsoft.com/office/powerpoint/2010/main" val="2897999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5CE57-A437-995E-40EC-33205D8F9C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8961C5-9785-5F5D-A824-6D3D79C4716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Existing System</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EB7DB1B-800E-88D9-7E0A-B78ED9D8C2FF}"/>
              </a:ext>
            </a:extLst>
          </p:cNvPr>
          <p:cNvSpPr>
            <a:spLocks noGrp="1"/>
          </p:cNvSpPr>
          <p:nvPr>
            <p:ph idx="1"/>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Dependence on manual ECG interpretation, making diagnosis time‑consuming, costly, and prone to human error.</a:t>
            </a:r>
          </a:p>
          <a:p>
            <a:pPr algn="just"/>
            <a:r>
              <a:rPr lang="en-US" sz="2000" dirty="0">
                <a:latin typeface="Times New Roman" panose="02020603050405020304" pitchFamily="18" charset="0"/>
                <a:cs typeface="Times New Roman" panose="02020603050405020304" pitchFamily="18" charset="0"/>
              </a:rPr>
              <a:t>Lack of image‑based ECG analysis, limiting usability with scanned or photographed ECG reports</a:t>
            </a:r>
          </a:p>
          <a:p>
            <a:pPr algn="just"/>
            <a:r>
              <a:rPr lang="en-US" sz="2000" dirty="0">
                <a:latin typeface="Times New Roman" panose="02020603050405020304" pitchFamily="18" charset="0"/>
                <a:cs typeface="Times New Roman" panose="02020603050405020304" pitchFamily="18" charset="0"/>
              </a:rPr>
              <a:t>Limited cardiac </a:t>
            </a:r>
            <a:r>
              <a:rPr lang="en-US" sz="1900" dirty="0">
                <a:latin typeface="Times New Roman" panose="02020603050405020304" pitchFamily="18" charset="0"/>
                <a:cs typeface="Times New Roman" panose="02020603050405020304" pitchFamily="18" charset="0"/>
              </a:rPr>
              <a:t>condition</a:t>
            </a:r>
            <a:r>
              <a:rPr lang="en-US" sz="2000" dirty="0">
                <a:latin typeface="Times New Roman" panose="02020603050405020304" pitchFamily="18" charset="0"/>
                <a:cs typeface="Times New Roman" panose="02020603050405020304" pitchFamily="18" charset="0"/>
              </a:rPr>
              <a:t> classification, unable to handle multiple or diverse heart abnormalities</a:t>
            </a:r>
          </a:p>
          <a:p>
            <a:pPr algn="just"/>
            <a:r>
              <a:rPr lang="en-US" sz="2000" dirty="0">
                <a:latin typeface="Times New Roman" panose="02020603050405020304" pitchFamily="18" charset="0"/>
                <a:cs typeface="Times New Roman" panose="02020603050405020304" pitchFamily="18" charset="0"/>
              </a:rPr>
              <a:t>Absence of clinical interpretation and report generation, providing only labels without actionable medical insights</a:t>
            </a:r>
          </a:p>
          <a:p>
            <a:pPr algn="just"/>
            <a:r>
              <a:rPr lang="en-US" sz="2000" dirty="0">
                <a:latin typeface="Times New Roman" panose="02020603050405020304" pitchFamily="18" charset="0"/>
                <a:cs typeface="Times New Roman" panose="02020603050405020304" pitchFamily="18" charset="0"/>
              </a:rPr>
              <a:t>Poor usability and limited telemedicine support, reducing adoption in remote healthcare and by non‑expert users</a:t>
            </a:r>
          </a:p>
          <a:p>
            <a:pPr algn="just"/>
            <a:r>
              <a:rPr lang="en-US" sz="2000" dirty="0">
                <a:latin typeface="Times New Roman" panose="02020603050405020304" pitchFamily="18" charset="0"/>
                <a:cs typeface="Times New Roman" panose="02020603050405020304" pitchFamily="18" charset="0"/>
              </a:rPr>
              <a:t>Poor generalization across diverse populations and ECG recording conditions, leading to reduced reliability and safety in real‑world clinical environments</a:t>
            </a:r>
          </a:p>
        </p:txBody>
      </p:sp>
      <p:sp>
        <p:nvSpPr>
          <p:cNvPr id="4" name="Date Placeholder 3">
            <a:extLst>
              <a:ext uri="{FF2B5EF4-FFF2-40B4-BE49-F238E27FC236}">
                <a16:creationId xmlns:a16="http://schemas.microsoft.com/office/drawing/2014/main" id="{9EF5A9CA-4E21-9C6A-37FE-DBC7254266A1}"/>
              </a:ext>
            </a:extLst>
          </p:cNvPr>
          <p:cNvSpPr>
            <a:spLocks noGrp="1"/>
          </p:cNvSpPr>
          <p:nvPr>
            <p:ph type="dt" sz="half" idx="10"/>
          </p:nvPr>
        </p:nvSpPr>
        <p:spPr/>
        <p:txBody>
          <a:bodyPr/>
          <a:lstStyle/>
          <a:p>
            <a:fld id="{070DAD1B-2C4A-45CA-8ED9-F88A03D644DC}" type="datetime1">
              <a:rPr lang="en-IN" smtClean="0"/>
              <a:t>02-04-2026</a:t>
            </a:fld>
            <a:endParaRPr lang="en-IN"/>
          </a:p>
        </p:txBody>
      </p:sp>
      <p:sp>
        <p:nvSpPr>
          <p:cNvPr id="6" name="Slide Number Placeholder 5">
            <a:extLst>
              <a:ext uri="{FF2B5EF4-FFF2-40B4-BE49-F238E27FC236}">
                <a16:creationId xmlns:a16="http://schemas.microsoft.com/office/drawing/2014/main" id="{ECC87E7A-B989-2083-5B23-0F82EB1D719C}"/>
              </a:ext>
            </a:extLst>
          </p:cNvPr>
          <p:cNvSpPr>
            <a:spLocks noGrp="1"/>
          </p:cNvSpPr>
          <p:nvPr>
            <p:ph type="sldNum" sz="quarter" idx="12"/>
          </p:nvPr>
        </p:nvSpPr>
        <p:spPr/>
        <p:txBody>
          <a:bodyPr/>
          <a:lstStyle/>
          <a:p>
            <a:fld id="{B6A08FA2-6E03-4978-AC29-B1ACFE8A3E2D}" type="slidenum">
              <a:rPr lang="en-IN" smtClean="0"/>
              <a:t>4</a:t>
            </a:fld>
            <a:endParaRPr lang="en-IN"/>
          </a:p>
        </p:txBody>
      </p:sp>
    </p:spTree>
    <p:extLst>
      <p:ext uri="{BB962C8B-B14F-4D97-AF65-F5344CB8AC3E}">
        <p14:creationId xmlns:p14="http://schemas.microsoft.com/office/powerpoint/2010/main" val="1303480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EAE8B-1AC6-981A-4156-2D634D2B6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7309D1-5FA4-C3B4-988B-19C978BABD6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Need for Proposed System</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D1AEF3E-DBE8-5902-C8F9-2B8530C0D812}"/>
              </a:ext>
            </a:extLst>
          </p:cNvPr>
          <p:cNvSpPr>
            <a:spLocks noGrp="1"/>
          </p:cNvSpPr>
          <p:nvPr>
            <p:ph idx="1"/>
          </p:nvPr>
        </p:nvSpPr>
        <p:spPr/>
        <p:txBody>
          <a:bodyPr>
            <a:normAutofit/>
          </a:bodyPr>
          <a:lstStyle/>
          <a:p>
            <a:pPr algn="just"/>
            <a:r>
              <a:rPr lang="en-US" sz="1900" dirty="0">
                <a:latin typeface="Times New Roman" panose="02020603050405020304" pitchFamily="18" charset="0"/>
                <a:cs typeface="Times New Roman" panose="02020603050405020304" pitchFamily="18" charset="0"/>
              </a:rPr>
              <a:t>To reduce reliance on manual ECG interpretation, which is time‑consuming and prone to human error</a:t>
            </a:r>
          </a:p>
          <a:p>
            <a:pPr algn="just"/>
            <a:r>
              <a:rPr lang="en-US" sz="1900" dirty="0">
                <a:latin typeface="Times New Roman" panose="02020603050405020304" pitchFamily="18" charset="0"/>
                <a:cs typeface="Times New Roman" panose="02020603050405020304" pitchFamily="18" charset="0"/>
              </a:rPr>
              <a:t>To enable image‑based ECG analysis, supporting scanned and photographed ECG reports commonly used in clinical and telemedicine settings</a:t>
            </a:r>
          </a:p>
          <a:p>
            <a:pPr algn="just"/>
            <a:r>
              <a:rPr lang="en-US" sz="1900" dirty="0">
                <a:latin typeface="Times New Roman" panose="02020603050405020304" pitchFamily="18" charset="0"/>
                <a:cs typeface="Times New Roman" panose="02020603050405020304" pitchFamily="18" charset="0"/>
              </a:rPr>
              <a:t>To provide accurate classification of multiple cardiac conditions rather than limited or single‑disease detection</a:t>
            </a:r>
          </a:p>
          <a:p>
            <a:pPr algn="just"/>
            <a:r>
              <a:rPr lang="en-US" sz="1900" dirty="0">
                <a:latin typeface="Times New Roman" panose="02020603050405020304" pitchFamily="18" charset="0"/>
                <a:cs typeface="Times New Roman" panose="02020603050405020304" pitchFamily="18" charset="0"/>
              </a:rPr>
              <a:t>To generate human‑readable clinical interpretations, making ECG results understandable to non‑specialists</a:t>
            </a:r>
          </a:p>
          <a:p>
            <a:pPr algn="just"/>
            <a:r>
              <a:rPr lang="en-US" sz="1900" dirty="0">
                <a:latin typeface="Times New Roman" panose="02020603050405020304" pitchFamily="18" charset="0"/>
                <a:cs typeface="Times New Roman" panose="02020603050405020304" pitchFamily="18" charset="0"/>
              </a:rPr>
              <a:t>To support fast and reliable diagnosis in remote and underserved areas through intelligent automation</a:t>
            </a:r>
          </a:p>
          <a:p>
            <a:pPr algn="just"/>
            <a:r>
              <a:rPr lang="en-US" sz="1900" dirty="0">
                <a:latin typeface="Times New Roman" panose="02020603050405020304" pitchFamily="18" charset="0"/>
                <a:cs typeface="Times New Roman" panose="02020603050405020304" pitchFamily="18" charset="0"/>
              </a:rPr>
              <a:t>To offer a user‑friendly decision‑support system that improves diagnostic accuracy, efficiency, and patient outcomes</a:t>
            </a:r>
            <a:endParaRPr lang="en-IN" sz="19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B6C7E554-0833-5491-3ECD-D22DD91B6940}"/>
              </a:ext>
            </a:extLst>
          </p:cNvPr>
          <p:cNvSpPr>
            <a:spLocks noGrp="1"/>
          </p:cNvSpPr>
          <p:nvPr>
            <p:ph type="dt" sz="half" idx="10"/>
          </p:nvPr>
        </p:nvSpPr>
        <p:spPr/>
        <p:txBody>
          <a:bodyPr/>
          <a:lstStyle/>
          <a:p>
            <a:fld id="{0EB5ACDF-E38B-4624-AF1A-F523D2494E60}" type="datetime1">
              <a:rPr lang="en-IN" smtClean="0"/>
              <a:t>02-04-2026</a:t>
            </a:fld>
            <a:endParaRPr lang="en-IN"/>
          </a:p>
        </p:txBody>
      </p:sp>
      <p:sp>
        <p:nvSpPr>
          <p:cNvPr id="6" name="Slide Number Placeholder 5">
            <a:extLst>
              <a:ext uri="{FF2B5EF4-FFF2-40B4-BE49-F238E27FC236}">
                <a16:creationId xmlns:a16="http://schemas.microsoft.com/office/drawing/2014/main" id="{1CC51192-1B20-075D-6590-99B6D982DBED}"/>
              </a:ext>
            </a:extLst>
          </p:cNvPr>
          <p:cNvSpPr>
            <a:spLocks noGrp="1"/>
          </p:cNvSpPr>
          <p:nvPr>
            <p:ph type="sldNum" sz="quarter" idx="12"/>
          </p:nvPr>
        </p:nvSpPr>
        <p:spPr/>
        <p:txBody>
          <a:bodyPr/>
          <a:lstStyle/>
          <a:p>
            <a:fld id="{B6A08FA2-6E03-4978-AC29-B1ACFE8A3E2D}" type="slidenum">
              <a:rPr lang="en-IN" smtClean="0"/>
              <a:t>5</a:t>
            </a:fld>
            <a:endParaRPr lang="en-IN"/>
          </a:p>
        </p:txBody>
      </p:sp>
    </p:spTree>
    <p:extLst>
      <p:ext uri="{BB962C8B-B14F-4D97-AF65-F5344CB8AC3E}">
        <p14:creationId xmlns:p14="http://schemas.microsoft.com/office/powerpoint/2010/main" val="1380028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E0C78-97D6-596B-5322-9AF9F90275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056090-75FC-2EC9-C6A4-C9D9BA5CE12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Proposed System</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DF670E6-CC87-0FC5-F81A-CECDF139558E}"/>
              </a:ext>
            </a:extLst>
          </p:cNvPr>
          <p:cNvSpPr>
            <a:spLocks noGrp="1"/>
          </p:cNvSpPr>
          <p:nvPr>
            <p:ph idx="1"/>
          </p:nvPr>
        </p:nvSpPr>
        <p:spPr/>
        <p:txBody>
          <a:bodyPr>
            <a:normAutofit/>
          </a:bodyPr>
          <a:lstStyle/>
          <a:p>
            <a:r>
              <a:rPr lang="en-IN" sz="1900" b="1" dirty="0">
                <a:latin typeface="Times New Roman" panose="02020603050405020304" pitchFamily="18" charset="0"/>
                <a:cs typeface="Times New Roman" panose="02020603050405020304" pitchFamily="18" charset="0"/>
              </a:rPr>
              <a:t>Proposed System – Overview</a:t>
            </a:r>
          </a:p>
          <a:p>
            <a:pPr marL="0" indent="0">
              <a:buNone/>
            </a:pPr>
            <a:r>
              <a:rPr lang="en-IN" sz="1900" dirty="0">
                <a:latin typeface="Times New Roman" panose="02020603050405020304" pitchFamily="18" charset="0"/>
                <a:cs typeface="Times New Roman" panose="02020603050405020304" pitchFamily="18" charset="0"/>
              </a:rPr>
              <a:t>       AI‑Driven ECG Image Analysis and Clinical Interpretation System</a:t>
            </a:r>
          </a:p>
          <a:p>
            <a:pPr marL="0" indent="0">
              <a:buNone/>
            </a:pPr>
            <a:r>
              <a:rPr lang="en-IN" sz="1900" dirty="0">
                <a:latin typeface="Times New Roman" panose="02020603050405020304" pitchFamily="18" charset="0"/>
                <a:cs typeface="Times New Roman" panose="02020603050405020304" pitchFamily="18" charset="0"/>
              </a:rPr>
              <a:t>       End‑to‑end automated solution from ECG image upload to report generation</a:t>
            </a:r>
          </a:p>
          <a:p>
            <a:pPr marL="0" indent="0">
              <a:buNone/>
            </a:pPr>
            <a:r>
              <a:rPr lang="en-IN" sz="1900" dirty="0">
                <a:latin typeface="Times New Roman" panose="02020603050405020304" pitchFamily="18" charset="0"/>
                <a:cs typeface="Times New Roman" panose="02020603050405020304" pitchFamily="18" charset="0"/>
              </a:rPr>
              <a:t>       Eliminates dependency on manual ECG interpretation</a:t>
            </a:r>
          </a:p>
          <a:p>
            <a:pPr marL="0" indent="0">
              <a:buNone/>
            </a:pPr>
            <a:r>
              <a:rPr lang="en-IN" sz="1900" dirty="0">
                <a:latin typeface="Times New Roman" panose="02020603050405020304" pitchFamily="18" charset="0"/>
                <a:cs typeface="Times New Roman" panose="02020603050405020304" pitchFamily="18" charset="0"/>
              </a:rPr>
              <a:t>       Designed for hospitals, clinics, medical education, and telemedicine</a:t>
            </a:r>
          </a:p>
          <a:p>
            <a:r>
              <a:rPr lang="en-IN" sz="1900" b="1" dirty="0">
                <a:latin typeface="Times New Roman" panose="02020603050405020304" pitchFamily="18" charset="0"/>
                <a:cs typeface="Times New Roman" panose="02020603050405020304" pitchFamily="18" charset="0"/>
              </a:rPr>
              <a:t>System Workflow</a:t>
            </a:r>
          </a:p>
          <a:p>
            <a:pPr marL="0" indent="0">
              <a:buNone/>
            </a:pPr>
            <a:r>
              <a:rPr lang="en-US" sz="1900" dirty="0">
                <a:latin typeface="Times New Roman" panose="02020603050405020304" pitchFamily="18" charset="0"/>
                <a:cs typeface="Times New Roman" panose="02020603050405020304" pitchFamily="18" charset="0"/>
              </a:rPr>
              <a:t>       Upload ECG image through a user‑friendly interface</a:t>
            </a:r>
          </a:p>
          <a:p>
            <a:pPr marL="0" indent="0">
              <a:buNone/>
            </a:pPr>
            <a:r>
              <a:rPr lang="en-US" sz="1900" dirty="0">
                <a:latin typeface="Times New Roman" panose="02020603050405020304" pitchFamily="18" charset="0"/>
                <a:cs typeface="Times New Roman" panose="02020603050405020304" pitchFamily="18" charset="0"/>
              </a:rPr>
              <a:t>       Preprocessing of ECG image to enhance waveform quality</a:t>
            </a:r>
          </a:p>
          <a:p>
            <a:pPr marL="0" indent="0">
              <a:buNone/>
            </a:pPr>
            <a:r>
              <a:rPr lang="en-US" sz="1900" dirty="0">
                <a:latin typeface="Times New Roman" panose="02020603050405020304" pitchFamily="18" charset="0"/>
                <a:cs typeface="Times New Roman" panose="02020603050405020304" pitchFamily="18" charset="0"/>
              </a:rPr>
              <a:t>       Deep learning‑based cardiac condition classification</a:t>
            </a:r>
          </a:p>
          <a:p>
            <a:pPr marL="0" indent="0">
              <a:buNone/>
            </a:pPr>
            <a:r>
              <a:rPr lang="en-US" sz="1900" dirty="0">
                <a:latin typeface="Times New Roman" panose="02020603050405020304" pitchFamily="18" charset="0"/>
                <a:cs typeface="Times New Roman" panose="02020603050405020304" pitchFamily="18" charset="0"/>
              </a:rPr>
              <a:t>       Generative AI module produces detailed clinical report</a:t>
            </a:r>
          </a:p>
          <a:p>
            <a:pPr marL="0" indent="0">
              <a:buNone/>
            </a:pPr>
            <a:r>
              <a:rPr lang="en-US" sz="1900" dirty="0">
                <a:latin typeface="Times New Roman" panose="02020603050405020304" pitchFamily="18" charset="0"/>
                <a:cs typeface="Times New Roman" panose="02020603050405020304" pitchFamily="18" charset="0"/>
              </a:rPr>
              <a:t>       Instant delivery of results to the user</a:t>
            </a:r>
          </a:p>
          <a:p>
            <a:pPr marL="0" indent="0">
              <a:buNone/>
            </a:pPr>
            <a:endParaRPr lang="en-IN" sz="1900" dirty="0">
              <a:latin typeface="Times New Roman" panose="02020603050405020304" pitchFamily="18" charset="0"/>
              <a:cs typeface="Times New Roman" panose="02020603050405020304" pitchFamily="18" charset="0"/>
            </a:endParaRPr>
          </a:p>
          <a:p>
            <a:pPr marL="0" indent="0">
              <a:buNone/>
            </a:pPr>
            <a:endParaRPr lang="en-IN" sz="1900" dirty="0">
              <a:latin typeface="Times New Roman" panose="02020603050405020304" pitchFamily="18" charset="0"/>
              <a:cs typeface="Times New Roman" panose="02020603050405020304" pitchFamily="18" charset="0"/>
            </a:endParaRPr>
          </a:p>
          <a:p>
            <a:endParaRPr lang="en-IN" sz="1900" dirty="0">
              <a:latin typeface="Times New Roman" panose="02020603050405020304" pitchFamily="18" charset="0"/>
              <a:cs typeface="Times New Roman" panose="02020603050405020304" pitchFamily="18" charset="0"/>
            </a:endParaRPr>
          </a:p>
          <a:p>
            <a:endParaRPr lang="en-IN" sz="19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2DC8AD5-BB8C-D550-A08B-B7C92A0D88D9}"/>
              </a:ext>
            </a:extLst>
          </p:cNvPr>
          <p:cNvSpPr>
            <a:spLocks noGrp="1"/>
          </p:cNvSpPr>
          <p:nvPr>
            <p:ph type="dt" sz="half" idx="10"/>
          </p:nvPr>
        </p:nvSpPr>
        <p:spPr/>
        <p:txBody>
          <a:bodyPr/>
          <a:lstStyle/>
          <a:p>
            <a:fld id="{10E145AE-77CA-4A42-9883-3E5577E109F1}" type="datetime1">
              <a:rPr lang="en-IN" smtClean="0"/>
              <a:t>02-04-2026</a:t>
            </a:fld>
            <a:endParaRPr lang="en-IN"/>
          </a:p>
        </p:txBody>
      </p:sp>
      <p:sp>
        <p:nvSpPr>
          <p:cNvPr id="6" name="Slide Number Placeholder 5">
            <a:extLst>
              <a:ext uri="{FF2B5EF4-FFF2-40B4-BE49-F238E27FC236}">
                <a16:creationId xmlns:a16="http://schemas.microsoft.com/office/drawing/2014/main" id="{C2BB344B-3531-940F-A917-A6236C85A192}"/>
              </a:ext>
            </a:extLst>
          </p:cNvPr>
          <p:cNvSpPr>
            <a:spLocks noGrp="1"/>
          </p:cNvSpPr>
          <p:nvPr>
            <p:ph type="sldNum" sz="quarter" idx="12"/>
          </p:nvPr>
        </p:nvSpPr>
        <p:spPr/>
        <p:txBody>
          <a:bodyPr/>
          <a:lstStyle/>
          <a:p>
            <a:fld id="{B6A08FA2-6E03-4978-AC29-B1ACFE8A3E2D}" type="slidenum">
              <a:rPr lang="en-IN" smtClean="0"/>
              <a:t>6</a:t>
            </a:fld>
            <a:endParaRPr lang="en-IN"/>
          </a:p>
        </p:txBody>
      </p:sp>
    </p:spTree>
    <p:extLst>
      <p:ext uri="{BB962C8B-B14F-4D97-AF65-F5344CB8AC3E}">
        <p14:creationId xmlns:p14="http://schemas.microsoft.com/office/powerpoint/2010/main" val="1055599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7E2C7-D778-43D6-9574-17112BC9C4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9D92A7-5E07-18BB-569B-760D5069135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Proposed System</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5E3C665-F2DD-B79B-1BA4-7193DBECB073}"/>
              </a:ext>
            </a:extLst>
          </p:cNvPr>
          <p:cNvSpPr>
            <a:spLocks noGrp="1"/>
          </p:cNvSpPr>
          <p:nvPr>
            <p:ph idx="1"/>
          </p:nvPr>
        </p:nvSpPr>
        <p:spPr/>
        <p:txBody>
          <a:bodyPr>
            <a:normAutofit fontScale="92500" lnSpcReduction="10000"/>
          </a:bodyPr>
          <a:lstStyle/>
          <a:p>
            <a:r>
              <a:rPr lang="en-IN" sz="2100" b="1" dirty="0">
                <a:latin typeface="Times New Roman" panose="02020603050405020304" pitchFamily="18" charset="0"/>
                <a:cs typeface="Times New Roman" panose="02020603050405020304" pitchFamily="18" charset="0"/>
              </a:rPr>
              <a:t>ECG Image Preprocessing &amp; Feature Extraction</a:t>
            </a:r>
          </a:p>
          <a:p>
            <a:pPr marL="0" indent="0">
              <a:buNone/>
            </a:pPr>
            <a:r>
              <a:rPr lang="en-IN" sz="2100" dirty="0">
                <a:latin typeface="Times New Roman" panose="02020603050405020304" pitchFamily="18" charset="0"/>
                <a:cs typeface="Times New Roman" panose="02020603050405020304" pitchFamily="18" charset="0"/>
              </a:rPr>
              <a:t>       Noise removal and contrast enhancement</a:t>
            </a:r>
          </a:p>
          <a:p>
            <a:pPr marL="0" indent="0">
              <a:buNone/>
            </a:pPr>
            <a:r>
              <a:rPr lang="en-IN" sz="2100"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Conversion to grayscale for consistency</a:t>
            </a:r>
          </a:p>
          <a:p>
            <a:pPr marL="0" indent="0">
              <a:buNone/>
            </a:pPr>
            <a:r>
              <a:rPr lang="en-IN" sz="2100"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Segmentation of ECG waveforms (P wave, QRS complex, T wave)</a:t>
            </a:r>
            <a:endParaRPr lang="en-IN" sz="2100" dirty="0">
              <a:latin typeface="Times New Roman" panose="02020603050405020304" pitchFamily="18" charset="0"/>
              <a:cs typeface="Times New Roman" panose="02020603050405020304" pitchFamily="18" charset="0"/>
            </a:endParaRPr>
          </a:p>
          <a:p>
            <a:pPr marL="0" indent="0">
              <a:buNone/>
            </a:pPr>
            <a:r>
              <a:rPr lang="en-IN" sz="2100"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Ensures accurate and reliable feature extraction</a:t>
            </a:r>
          </a:p>
          <a:p>
            <a:r>
              <a:rPr lang="en-US" sz="2100" b="1" dirty="0">
                <a:latin typeface="Times New Roman" panose="02020603050405020304" pitchFamily="18" charset="0"/>
                <a:cs typeface="Times New Roman" panose="02020603050405020304" pitchFamily="18" charset="0"/>
              </a:rPr>
              <a:t>Deep Learning‑Based Cardiac Classification</a:t>
            </a:r>
          </a:p>
          <a:p>
            <a:pPr marL="0" indent="0">
              <a:buNone/>
            </a:pPr>
            <a:r>
              <a:rPr lang="en-US" sz="2100" dirty="0">
                <a:latin typeface="Times New Roman" panose="02020603050405020304" pitchFamily="18" charset="0"/>
                <a:cs typeface="Times New Roman" panose="02020603050405020304" pitchFamily="18" charset="0"/>
              </a:rPr>
              <a:t>       Uses Convolutional Neural Networks (CNN)</a:t>
            </a:r>
          </a:p>
          <a:p>
            <a:pPr marL="0" indent="0">
              <a:buNone/>
            </a:pPr>
            <a:r>
              <a:rPr lang="en-US" sz="2100" dirty="0">
                <a:latin typeface="Times New Roman" panose="02020603050405020304" pitchFamily="18" charset="0"/>
                <a:cs typeface="Times New Roman" panose="02020603050405020304" pitchFamily="18" charset="0"/>
              </a:rPr>
              <a:t>       Automatically learns complex waveform patterns</a:t>
            </a:r>
          </a:p>
          <a:p>
            <a:pPr marL="0" indent="0">
              <a:buNone/>
            </a:pPr>
            <a:r>
              <a:rPr lang="en-US" sz="2100" dirty="0">
                <a:latin typeface="Times New Roman" panose="02020603050405020304" pitchFamily="18" charset="0"/>
                <a:cs typeface="Times New Roman" panose="02020603050405020304" pitchFamily="18" charset="0"/>
              </a:rPr>
              <a:t>       Classifies conditions such as : </a:t>
            </a:r>
          </a:p>
          <a:p>
            <a:pPr marL="0" indent="0">
              <a:buNone/>
            </a:pPr>
            <a:r>
              <a:rPr lang="en-US" sz="2100" dirty="0">
                <a:latin typeface="Times New Roman" panose="02020603050405020304" pitchFamily="18" charset="0"/>
                <a:cs typeface="Times New Roman" panose="02020603050405020304" pitchFamily="18" charset="0"/>
              </a:rPr>
              <a:t>                a. Arrhythmia, Myocardial Infarction</a:t>
            </a:r>
          </a:p>
          <a:p>
            <a:pPr marL="0" indent="0">
              <a:buNone/>
            </a:pPr>
            <a:r>
              <a:rPr lang="en-US" sz="2100" dirty="0">
                <a:latin typeface="Times New Roman" panose="02020603050405020304" pitchFamily="18" charset="0"/>
                <a:cs typeface="Times New Roman" panose="02020603050405020304" pitchFamily="18" charset="0"/>
              </a:rPr>
              <a:t>                b. Tachycardia, Bradycardia</a:t>
            </a:r>
          </a:p>
          <a:p>
            <a:pPr marL="0" indent="0">
              <a:buNone/>
            </a:pPr>
            <a:r>
              <a:rPr lang="en-US" sz="2100" dirty="0">
                <a:latin typeface="Times New Roman" panose="02020603050405020304" pitchFamily="18" charset="0"/>
                <a:cs typeface="Times New Roman" panose="02020603050405020304" pitchFamily="18" charset="0"/>
              </a:rPr>
              <a:t>                c. Normal Sinus Rhythm</a:t>
            </a:r>
          </a:p>
          <a:p>
            <a:pPr marL="0" indent="0">
              <a:buNone/>
            </a:pPr>
            <a:endParaRPr lang="en-IN" sz="1900" dirty="0">
              <a:latin typeface="Times New Roman" panose="02020603050405020304" pitchFamily="18" charset="0"/>
              <a:cs typeface="Times New Roman" panose="02020603050405020304" pitchFamily="18" charset="0"/>
            </a:endParaRPr>
          </a:p>
          <a:p>
            <a:pPr marL="0" indent="0">
              <a:buNone/>
            </a:pPr>
            <a:endParaRPr lang="en-IN" sz="1900" dirty="0">
              <a:latin typeface="Times New Roman" panose="02020603050405020304" pitchFamily="18" charset="0"/>
              <a:cs typeface="Times New Roman" panose="02020603050405020304" pitchFamily="18" charset="0"/>
            </a:endParaRPr>
          </a:p>
          <a:p>
            <a:endParaRPr lang="en-IN" sz="1900" dirty="0">
              <a:latin typeface="Times New Roman" panose="02020603050405020304" pitchFamily="18" charset="0"/>
              <a:cs typeface="Times New Roman" panose="02020603050405020304" pitchFamily="18" charset="0"/>
            </a:endParaRPr>
          </a:p>
          <a:p>
            <a:endParaRPr lang="en-IN" sz="19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7CF9DEAC-EAFA-598E-FC89-532436F68253}"/>
              </a:ext>
            </a:extLst>
          </p:cNvPr>
          <p:cNvSpPr>
            <a:spLocks noGrp="1"/>
          </p:cNvSpPr>
          <p:nvPr>
            <p:ph type="dt" sz="half" idx="10"/>
          </p:nvPr>
        </p:nvSpPr>
        <p:spPr/>
        <p:txBody>
          <a:bodyPr/>
          <a:lstStyle/>
          <a:p>
            <a:fld id="{10E145AE-77CA-4A42-9883-3E5577E109F1}" type="datetime1">
              <a:rPr lang="en-IN" smtClean="0"/>
              <a:t>02-04-2026</a:t>
            </a:fld>
            <a:endParaRPr lang="en-IN"/>
          </a:p>
        </p:txBody>
      </p:sp>
      <p:sp>
        <p:nvSpPr>
          <p:cNvPr id="6" name="Slide Number Placeholder 5">
            <a:extLst>
              <a:ext uri="{FF2B5EF4-FFF2-40B4-BE49-F238E27FC236}">
                <a16:creationId xmlns:a16="http://schemas.microsoft.com/office/drawing/2014/main" id="{86722B2A-A1BC-4721-7BBD-C0C1750D9F05}"/>
              </a:ext>
            </a:extLst>
          </p:cNvPr>
          <p:cNvSpPr>
            <a:spLocks noGrp="1"/>
          </p:cNvSpPr>
          <p:nvPr>
            <p:ph type="sldNum" sz="quarter" idx="12"/>
          </p:nvPr>
        </p:nvSpPr>
        <p:spPr/>
        <p:txBody>
          <a:bodyPr/>
          <a:lstStyle/>
          <a:p>
            <a:fld id="{B6A08FA2-6E03-4978-AC29-B1ACFE8A3E2D}" type="slidenum">
              <a:rPr lang="en-IN" smtClean="0"/>
              <a:t>7</a:t>
            </a:fld>
            <a:endParaRPr lang="en-IN"/>
          </a:p>
        </p:txBody>
      </p:sp>
    </p:spTree>
    <p:extLst>
      <p:ext uri="{BB962C8B-B14F-4D97-AF65-F5344CB8AC3E}">
        <p14:creationId xmlns:p14="http://schemas.microsoft.com/office/powerpoint/2010/main" val="33744548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D9A96-BDB9-50D4-ABD2-5D1FA00389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4D363A-9009-0AA4-8B0A-7ECF274E3D4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Proposed System</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59BB5BC-2FAE-368A-0EB1-6D1077473708}"/>
              </a:ext>
            </a:extLst>
          </p:cNvPr>
          <p:cNvSpPr>
            <a:spLocks noGrp="1"/>
          </p:cNvSpPr>
          <p:nvPr>
            <p:ph idx="1"/>
          </p:nvPr>
        </p:nvSpPr>
        <p:spPr/>
        <p:txBody>
          <a:bodyPr>
            <a:normAutofit/>
          </a:bodyPr>
          <a:lstStyle/>
          <a:p>
            <a:pPr>
              <a:lnSpc>
                <a:spcPct val="120000"/>
              </a:lnSpc>
            </a:pPr>
            <a:r>
              <a:rPr lang="it-IT" sz="1900" b="1" dirty="0">
                <a:latin typeface="Times New Roman" panose="02020603050405020304" pitchFamily="18" charset="0"/>
                <a:cs typeface="Times New Roman" panose="02020603050405020304" pitchFamily="18" charset="0"/>
              </a:rPr>
              <a:t>Generative AI‑Based Clinical Interpretation</a:t>
            </a:r>
          </a:p>
          <a:p>
            <a:pPr marL="0" indent="0">
              <a:lnSpc>
                <a:spcPct val="120000"/>
              </a:lnSpc>
              <a:buNone/>
            </a:pPr>
            <a:r>
              <a:rPr lang="en-IN" sz="1900"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Converts model output into human‑readable text Provides:</a:t>
            </a:r>
          </a:p>
          <a:p>
            <a:pPr marL="0" indent="0">
              <a:lnSpc>
                <a:spcPct val="120000"/>
              </a:lnSpc>
              <a:buNone/>
            </a:pPr>
            <a:r>
              <a:rPr lang="en-IN" sz="1900" dirty="0">
                <a:latin typeface="Times New Roman" panose="02020603050405020304" pitchFamily="18" charset="0"/>
                <a:cs typeface="Times New Roman" panose="02020603050405020304" pitchFamily="18" charset="0"/>
              </a:rPr>
              <a:t>              a. </a:t>
            </a:r>
            <a:r>
              <a:rPr lang="en-US" sz="1900" dirty="0">
                <a:latin typeface="Times New Roman" panose="02020603050405020304" pitchFamily="18" charset="0"/>
                <a:cs typeface="Times New Roman" panose="02020603050405020304" pitchFamily="18" charset="0"/>
              </a:rPr>
              <a:t>ECG waveform interpretation</a:t>
            </a:r>
          </a:p>
          <a:p>
            <a:pPr marL="0" indent="0">
              <a:lnSpc>
                <a:spcPct val="120000"/>
              </a:lnSpc>
              <a:buNone/>
            </a:pPr>
            <a:r>
              <a:rPr lang="en-US" sz="1900" dirty="0">
                <a:latin typeface="Times New Roman" panose="02020603050405020304" pitchFamily="18" charset="0"/>
                <a:cs typeface="Times New Roman" panose="02020603050405020304" pitchFamily="18" charset="0"/>
              </a:rPr>
              <a:t>              b. Possible diagnosis</a:t>
            </a:r>
          </a:p>
          <a:p>
            <a:pPr marL="0" indent="0">
              <a:lnSpc>
                <a:spcPct val="120000"/>
              </a:lnSpc>
              <a:buNone/>
            </a:pPr>
            <a:r>
              <a:rPr lang="en-US" sz="1900" dirty="0">
                <a:latin typeface="Times New Roman" panose="02020603050405020304" pitchFamily="18" charset="0"/>
                <a:cs typeface="Times New Roman" panose="02020603050405020304" pitchFamily="18" charset="0"/>
              </a:rPr>
              <a:t>              c. Causes of abnormalities</a:t>
            </a:r>
          </a:p>
          <a:p>
            <a:pPr marL="0" indent="0">
              <a:lnSpc>
                <a:spcPct val="120000"/>
              </a:lnSpc>
              <a:buNone/>
            </a:pPr>
            <a:r>
              <a:rPr lang="en-US" sz="1900" dirty="0">
                <a:latin typeface="Times New Roman" panose="02020603050405020304" pitchFamily="18" charset="0"/>
                <a:cs typeface="Times New Roman" panose="02020603050405020304" pitchFamily="18" charset="0"/>
              </a:rPr>
              <a:t>              d. Treatment recommendations</a:t>
            </a:r>
          </a:p>
          <a:p>
            <a:pPr marL="0" indent="0">
              <a:lnSpc>
                <a:spcPct val="160000"/>
              </a:lnSpc>
              <a:buNone/>
            </a:pPr>
            <a:r>
              <a:rPr lang="en-US" sz="1900" dirty="0">
                <a:latin typeface="Times New Roman" panose="02020603050405020304" pitchFamily="18" charset="0"/>
                <a:cs typeface="Times New Roman" panose="02020603050405020304" pitchFamily="18" charset="0"/>
              </a:rPr>
              <a:t>              e. Recovery and follow‑up guidelines</a:t>
            </a:r>
            <a:br>
              <a:rPr lang="en-US" sz="4000" dirty="0">
                <a:latin typeface="Times New Roman" panose="02020603050405020304" pitchFamily="18" charset="0"/>
                <a:cs typeface="Times New Roman" panose="02020603050405020304" pitchFamily="18" charset="0"/>
              </a:rPr>
            </a:br>
            <a:endParaRPr lang="en-IN" sz="1900" dirty="0">
              <a:latin typeface="Times New Roman" panose="02020603050405020304" pitchFamily="18" charset="0"/>
              <a:cs typeface="Times New Roman" panose="02020603050405020304" pitchFamily="18" charset="0"/>
            </a:endParaRPr>
          </a:p>
          <a:p>
            <a:pPr>
              <a:lnSpc>
                <a:spcPct val="120000"/>
              </a:lnSpc>
            </a:pPr>
            <a:endParaRPr lang="en-IN" sz="1900" dirty="0">
              <a:latin typeface="Times New Roman" panose="02020603050405020304" pitchFamily="18" charset="0"/>
              <a:cs typeface="Times New Roman" panose="02020603050405020304" pitchFamily="18" charset="0"/>
            </a:endParaRPr>
          </a:p>
          <a:p>
            <a:pPr>
              <a:lnSpc>
                <a:spcPct val="120000"/>
              </a:lnSpc>
            </a:pPr>
            <a:endParaRPr lang="en-IN" sz="19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62C0C6EC-A01D-7198-99F0-BE9763CE75E3}"/>
              </a:ext>
            </a:extLst>
          </p:cNvPr>
          <p:cNvSpPr>
            <a:spLocks noGrp="1"/>
          </p:cNvSpPr>
          <p:nvPr>
            <p:ph type="dt" sz="half" idx="10"/>
          </p:nvPr>
        </p:nvSpPr>
        <p:spPr/>
        <p:txBody>
          <a:bodyPr/>
          <a:lstStyle/>
          <a:p>
            <a:fld id="{10E145AE-77CA-4A42-9883-3E5577E109F1}" type="datetime1">
              <a:rPr lang="en-IN" smtClean="0"/>
              <a:t>02-04-2026</a:t>
            </a:fld>
            <a:endParaRPr lang="en-IN"/>
          </a:p>
        </p:txBody>
      </p:sp>
      <p:sp>
        <p:nvSpPr>
          <p:cNvPr id="6" name="Slide Number Placeholder 5">
            <a:extLst>
              <a:ext uri="{FF2B5EF4-FFF2-40B4-BE49-F238E27FC236}">
                <a16:creationId xmlns:a16="http://schemas.microsoft.com/office/drawing/2014/main" id="{08F50197-400C-C2DD-F301-CCE1DE014423}"/>
              </a:ext>
            </a:extLst>
          </p:cNvPr>
          <p:cNvSpPr>
            <a:spLocks noGrp="1"/>
          </p:cNvSpPr>
          <p:nvPr>
            <p:ph type="sldNum" sz="quarter" idx="12"/>
          </p:nvPr>
        </p:nvSpPr>
        <p:spPr/>
        <p:txBody>
          <a:bodyPr/>
          <a:lstStyle/>
          <a:p>
            <a:fld id="{B6A08FA2-6E03-4978-AC29-B1ACFE8A3E2D}" type="slidenum">
              <a:rPr lang="en-IN" smtClean="0"/>
              <a:t>8</a:t>
            </a:fld>
            <a:endParaRPr lang="en-IN"/>
          </a:p>
        </p:txBody>
      </p:sp>
    </p:spTree>
    <p:extLst>
      <p:ext uri="{BB962C8B-B14F-4D97-AF65-F5344CB8AC3E}">
        <p14:creationId xmlns:p14="http://schemas.microsoft.com/office/powerpoint/2010/main" val="955242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9011C-DA38-8047-DA14-9FC2719347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75D0DE-F343-7DE5-EBEA-9FD0BC7374CA}"/>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Architecture Diagram</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46687F4-97AD-2F5A-8CF2-BD38254DF411}"/>
              </a:ext>
            </a:extLst>
          </p:cNvPr>
          <p:cNvSpPr>
            <a:spLocks noGrp="1"/>
          </p:cNvSpPr>
          <p:nvPr>
            <p:ph type="dt" sz="half" idx="10"/>
          </p:nvPr>
        </p:nvSpPr>
        <p:spPr/>
        <p:txBody>
          <a:bodyPr/>
          <a:lstStyle/>
          <a:p>
            <a:fld id="{F6B873D6-2F1E-480A-8F89-720905B0F7CF}" type="datetime1">
              <a:rPr lang="en-IN" smtClean="0"/>
              <a:t>02-04-2026</a:t>
            </a:fld>
            <a:endParaRPr lang="en-IN"/>
          </a:p>
        </p:txBody>
      </p:sp>
      <p:sp>
        <p:nvSpPr>
          <p:cNvPr id="6" name="Slide Number Placeholder 5">
            <a:extLst>
              <a:ext uri="{FF2B5EF4-FFF2-40B4-BE49-F238E27FC236}">
                <a16:creationId xmlns:a16="http://schemas.microsoft.com/office/drawing/2014/main" id="{70AE8C64-5FF9-3AF6-80AF-E355FE894F15}"/>
              </a:ext>
            </a:extLst>
          </p:cNvPr>
          <p:cNvSpPr>
            <a:spLocks noGrp="1"/>
          </p:cNvSpPr>
          <p:nvPr>
            <p:ph type="sldNum" sz="quarter" idx="12"/>
          </p:nvPr>
        </p:nvSpPr>
        <p:spPr/>
        <p:txBody>
          <a:bodyPr/>
          <a:lstStyle/>
          <a:p>
            <a:fld id="{B6A08FA2-6E03-4978-AC29-B1ACFE8A3E2D}" type="slidenum">
              <a:rPr lang="en-IN" smtClean="0"/>
              <a:t>9</a:t>
            </a:fld>
            <a:endParaRPr lang="en-IN"/>
          </a:p>
        </p:txBody>
      </p:sp>
      <p:pic>
        <p:nvPicPr>
          <p:cNvPr id="8" name="Content Placeholder 7" descr="ecg_bw_1">
            <a:extLst>
              <a:ext uri="{FF2B5EF4-FFF2-40B4-BE49-F238E27FC236}">
                <a16:creationId xmlns:a16="http://schemas.microsoft.com/office/drawing/2014/main" id="{C988F1DF-BAEB-5270-2D75-36192EE120D5}"/>
              </a:ext>
            </a:extLst>
          </p:cNvPr>
          <p:cNvPicPr>
            <a:picLocks noGrp="1" noChangeAspect="1"/>
          </p:cNvPicPr>
          <p:nvPr>
            <p:ph idx="1"/>
          </p:nvPr>
        </p:nvPicPr>
        <p:blipFill>
          <a:blip r:embed="rId2"/>
          <a:stretch>
            <a:fillRect/>
          </a:stretch>
        </p:blipFill>
        <p:spPr>
          <a:xfrm>
            <a:off x="2113280" y="1385275"/>
            <a:ext cx="8402319" cy="5276488"/>
          </a:xfrm>
          <a:prstGeom prst="rect">
            <a:avLst/>
          </a:prstGeom>
        </p:spPr>
      </p:pic>
    </p:spTree>
    <p:extLst>
      <p:ext uri="{BB962C8B-B14F-4D97-AF65-F5344CB8AC3E}">
        <p14:creationId xmlns:p14="http://schemas.microsoft.com/office/powerpoint/2010/main" val="3472156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5142E-952D-6356-14F0-32CB3E4D04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8EEA52-A052-EF6E-B37A-CDFA7152C63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Technology Used</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5D8AEE9-9097-4CE7-EB01-7AACA775995D}"/>
              </a:ext>
            </a:extLst>
          </p:cNvPr>
          <p:cNvSpPr>
            <a:spLocks noGrp="1"/>
          </p:cNvSpPr>
          <p:nvPr>
            <p:ph idx="1"/>
          </p:nvPr>
        </p:nvSpPr>
        <p:spPr>
          <a:xfrm>
            <a:off x="838200" y="1601338"/>
            <a:ext cx="10515600" cy="4351338"/>
          </a:xfrm>
        </p:spPr>
        <p:txBody>
          <a:bodyPr>
            <a:noAutofit/>
          </a:bodyPr>
          <a:lstStyle/>
          <a:p>
            <a:pPr algn="just"/>
            <a:r>
              <a:rPr lang="en-IN" sz="1900" b="1" dirty="0">
                <a:latin typeface="Times New Roman" panose="02020603050405020304" pitchFamily="18" charset="0"/>
                <a:cs typeface="Times New Roman" panose="02020603050405020304" pitchFamily="18" charset="0"/>
              </a:rPr>
              <a:t>Convolutional Neural Networks (CNN)</a:t>
            </a:r>
          </a:p>
          <a:p>
            <a:pPr marL="0" indent="0" algn="just">
              <a:buNone/>
            </a:pPr>
            <a:r>
              <a:rPr lang="en-IN" sz="1900" dirty="0">
                <a:latin typeface="Times New Roman" panose="02020603050405020304" pitchFamily="18" charset="0"/>
                <a:cs typeface="Times New Roman" panose="02020603050405020304" pitchFamily="18" charset="0"/>
              </a:rPr>
              <a:t>            Used for ECG image feature extraction and multi‑class cardiac disease classification</a:t>
            </a:r>
          </a:p>
          <a:p>
            <a:pPr algn="just"/>
            <a:r>
              <a:rPr lang="en-IN" sz="1900" b="1" dirty="0">
                <a:latin typeface="Times New Roman" panose="02020603050405020304" pitchFamily="18" charset="0"/>
                <a:cs typeface="Times New Roman" panose="02020603050405020304" pitchFamily="18" charset="0"/>
              </a:rPr>
              <a:t>Image Processing Techniques</a:t>
            </a:r>
          </a:p>
          <a:p>
            <a:pPr marL="0" indent="0" algn="just">
              <a:buNone/>
            </a:pPr>
            <a:r>
              <a:rPr lang="en-IN" sz="1900" dirty="0">
                <a:latin typeface="Times New Roman" panose="02020603050405020304" pitchFamily="18" charset="0"/>
                <a:cs typeface="Times New Roman" panose="02020603050405020304" pitchFamily="18" charset="0"/>
              </a:rPr>
              <a:t>            Includes noise removal, contrast enhancement, grayscale conversion, and waveform segmentation</a:t>
            </a:r>
          </a:p>
          <a:p>
            <a:pPr algn="just"/>
            <a:r>
              <a:rPr lang="en-IN" sz="1900" b="1" dirty="0">
                <a:latin typeface="Times New Roman" panose="02020603050405020304" pitchFamily="18" charset="0"/>
                <a:cs typeface="Times New Roman" panose="02020603050405020304" pitchFamily="18" charset="0"/>
              </a:rPr>
              <a:t>Natural Language Processing (NLP)</a:t>
            </a:r>
          </a:p>
          <a:p>
            <a:pPr marL="0" indent="0" algn="just">
              <a:buNone/>
            </a:pPr>
            <a:r>
              <a:rPr lang="en-IN" sz="1900" dirty="0">
                <a:latin typeface="Times New Roman" panose="02020603050405020304" pitchFamily="18" charset="0"/>
                <a:cs typeface="Times New Roman" panose="02020603050405020304" pitchFamily="18" charset="0"/>
              </a:rPr>
              <a:t>            Converts diagnostic outputs into human‑readable clinical explanations</a:t>
            </a:r>
          </a:p>
          <a:p>
            <a:pPr algn="just"/>
            <a:r>
              <a:rPr lang="en-IN" sz="1900" b="1" dirty="0">
                <a:latin typeface="Times New Roman" panose="02020603050405020304" pitchFamily="18" charset="0"/>
                <a:cs typeface="Times New Roman" panose="02020603050405020304" pitchFamily="18" charset="0"/>
              </a:rPr>
              <a:t>Generative AI</a:t>
            </a:r>
          </a:p>
          <a:p>
            <a:pPr marL="0" indent="0" algn="just">
              <a:buNone/>
            </a:pPr>
            <a:r>
              <a:rPr lang="en-IN" sz="1900" dirty="0">
                <a:latin typeface="Times New Roman" panose="02020603050405020304" pitchFamily="18" charset="0"/>
                <a:cs typeface="Times New Roman" panose="02020603050405020304" pitchFamily="18" charset="0"/>
              </a:rPr>
              <a:t>            Generates detailed clinical reports including diagnosis, causes, treatment, and recovery guidance</a:t>
            </a:r>
          </a:p>
          <a:p>
            <a:pPr algn="just"/>
            <a:r>
              <a:rPr lang="en-IN" sz="1900" b="1" dirty="0">
                <a:latin typeface="Times New Roman" panose="02020603050405020304" pitchFamily="18" charset="0"/>
                <a:cs typeface="Times New Roman" panose="02020603050405020304" pitchFamily="18" charset="0"/>
              </a:rPr>
              <a:t>Python Programming Language</a:t>
            </a:r>
          </a:p>
          <a:p>
            <a:pPr marL="0" indent="0" algn="just">
              <a:buNone/>
            </a:pPr>
            <a:r>
              <a:rPr lang="en-IN" sz="1900" dirty="0">
                <a:latin typeface="Times New Roman" panose="02020603050405020304" pitchFamily="18" charset="0"/>
                <a:cs typeface="Times New Roman" panose="02020603050405020304" pitchFamily="18" charset="0"/>
              </a:rPr>
              <a:t>            Used for model development, image processing, and system integration</a:t>
            </a:r>
          </a:p>
          <a:p>
            <a:pPr algn="just"/>
            <a:r>
              <a:rPr lang="en-IN" sz="1900" b="1" dirty="0">
                <a:latin typeface="Times New Roman" panose="02020603050405020304" pitchFamily="18" charset="0"/>
                <a:cs typeface="Times New Roman" panose="02020603050405020304" pitchFamily="18" charset="0"/>
              </a:rPr>
              <a:t>Deep Learning Frameworks (TensorFlow)</a:t>
            </a:r>
          </a:p>
          <a:p>
            <a:pPr marL="0" indent="0" algn="just">
              <a:buNone/>
            </a:pPr>
            <a:r>
              <a:rPr lang="en-IN" sz="1900" dirty="0">
                <a:latin typeface="Times New Roman" panose="02020603050405020304" pitchFamily="18" charset="0"/>
                <a:cs typeface="Times New Roman" panose="02020603050405020304" pitchFamily="18" charset="0"/>
              </a:rPr>
              <a:t>            Used to build, train, and deploy CNN models</a:t>
            </a:r>
          </a:p>
        </p:txBody>
      </p:sp>
      <p:sp>
        <p:nvSpPr>
          <p:cNvPr id="4" name="Date Placeholder 3">
            <a:extLst>
              <a:ext uri="{FF2B5EF4-FFF2-40B4-BE49-F238E27FC236}">
                <a16:creationId xmlns:a16="http://schemas.microsoft.com/office/drawing/2014/main" id="{46B06763-B5E8-5369-5FE7-E74BC83543F2}"/>
              </a:ext>
            </a:extLst>
          </p:cNvPr>
          <p:cNvSpPr>
            <a:spLocks noGrp="1"/>
          </p:cNvSpPr>
          <p:nvPr>
            <p:ph type="dt" sz="half" idx="10"/>
          </p:nvPr>
        </p:nvSpPr>
        <p:spPr/>
        <p:txBody>
          <a:bodyPr/>
          <a:lstStyle/>
          <a:p>
            <a:fld id="{D268223C-C5A4-4857-AF3A-F0B87F03BBEE}" type="datetime1">
              <a:rPr lang="en-IN" smtClean="0"/>
              <a:t>02-04-2026</a:t>
            </a:fld>
            <a:endParaRPr lang="en-IN"/>
          </a:p>
        </p:txBody>
      </p:sp>
      <p:sp>
        <p:nvSpPr>
          <p:cNvPr id="6" name="Slide Number Placeholder 5">
            <a:extLst>
              <a:ext uri="{FF2B5EF4-FFF2-40B4-BE49-F238E27FC236}">
                <a16:creationId xmlns:a16="http://schemas.microsoft.com/office/drawing/2014/main" id="{B2DCF371-7C57-F90F-5F29-6B980CD69288}"/>
              </a:ext>
            </a:extLst>
          </p:cNvPr>
          <p:cNvSpPr>
            <a:spLocks noGrp="1"/>
          </p:cNvSpPr>
          <p:nvPr>
            <p:ph type="sldNum" sz="quarter" idx="12"/>
          </p:nvPr>
        </p:nvSpPr>
        <p:spPr/>
        <p:txBody>
          <a:bodyPr/>
          <a:lstStyle/>
          <a:p>
            <a:fld id="{B6A08FA2-6E03-4978-AC29-B1ACFE8A3E2D}" type="slidenum">
              <a:rPr lang="en-IN" smtClean="0"/>
              <a:t>10</a:t>
            </a:fld>
            <a:endParaRPr lang="en-IN"/>
          </a:p>
        </p:txBody>
      </p:sp>
    </p:spTree>
    <p:extLst>
      <p:ext uri="{BB962C8B-B14F-4D97-AF65-F5344CB8AC3E}">
        <p14:creationId xmlns:p14="http://schemas.microsoft.com/office/powerpoint/2010/main" val="495717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1F760-B533-946A-8D3D-CD874A286D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55786D-47F7-8FE9-D42F-90D307C4FD9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Module Description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EDC1A92-957D-D44D-62EB-6383381E8799}"/>
              </a:ext>
            </a:extLst>
          </p:cNvPr>
          <p:cNvSpPr>
            <a:spLocks noGrp="1"/>
          </p:cNvSpPr>
          <p:nvPr>
            <p:ph idx="1"/>
          </p:nvPr>
        </p:nvSpPr>
        <p:spPr/>
        <p:txBody>
          <a:bodyPr>
            <a:normAutofit/>
          </a:bodyPr>
          <a:lstStyle/>
          <a:p>
            <a:pPr algn="just"/>
            <a:r>
              <a:rPr lang="en-IN" sz="1900" b="1" dirty="0">
                <a:latin typeface="Times New Roman" panose="02020603050405020304" pitchFamily="18" charset="0"/>
                <a:cs typeface="Times New Roman" panose="02020603050405020304" pitchFamily="18" charset="0"/>
              </a:rPr>
              <a:t>M</a:t>
            </a:r>
            <a:r>
              <a:rPr lang="en-US" sz="1900" b="1" dirty="0" err="1">
                <a:latin typeface="Times New Roman" panose="02020603050405020304" pitchFamily="18" charset="0"/>
                <a:cs typeface="Times New Roman" panose="02020603050405020304" pitchFamily="18" charset="0"/>
              </a:rPr>
              <a:t>odule</a:t>
            </a:r>
            <a:r>
              <a:rPr lang="en-US" sz="1900" b="1" dirty="0">
                <a:latin typeface="Times New Roman" panose="02020603050405020304" pitchFamily="18" charset="0"/>
                <a:cs typeface="Times New Roman" panose="02020603050405020304" pitchFamily="18" charset="0"/>
              </a:rPr>
              <a:t> 1: ECG Image Upload &amp; Input Module</a:t>
            </a:r>
          </a:p>
          <a:p>
            <a:pPr marL="0" indent="0" algn="just">
              <a:lnSpc>
                <a:spcPct val="100000"/>
              </a:lnSpc>
              <a:buNone/>
            </a:pPr>
            <a:r>
              <a:rPr lang="en-US" sz="1900" dirty="0">
                <a:latin typeface="Times New Roman" panose="02020603050405020304" pitchFamily="18" charset="0"/>
                <a:cs typeface="Times New Roman" panose="02020603050405020304" pitchFamily="18" charset="0"/>
              </a:rPr>
              <a:t>    This module provides a user‑friendly interface that allows users to upload ECG images in common formats such as JPG, PNG, or scanned reports. It serves as the entry point of the system and ensures that ECG images can be easily submitted by healthcare professionals, medical students, or telemedicine platforms without requiring technical expertise.</a:t>
            </a:r>
          </a:p>
          <a:p>
            <a:pPr marL="0" indent="0" algn="just">
              <a:buNone/>
            </a:pPr>
            <a:endParaRPr lang="en-US" sz="1900" dirty="0">
              <a:latin typeface="Times New Roman" panose="02020603050405020304" pitchFamily="18" charset="0"/>
              <a:cs typeface="Times New Roman" panose="02020603050405020304" pitchFamily="18" charset="0"/>
            </a:endParaRPr>
          </a:p>
          <a:p>
            <a:pPr algn="just"/>
            <a:r>
              <a:rPr lang="en-US" sz="1900" b="1" dirty="0">
                <a:latin typeface="Times New Roman" panose="02020603050405020304" pitchFamily="18" charset="0"/>
                <a:cs typeface="Times New Roman" panose="02020603050405020304" pitchFamily="18" charset="0"/>
              </a:rPr>
              <a:t>Module 2: ECG Image Preprocessing Module</a:t>
            </a:r>
          </a:p>
          <a:p>
            <a:pPr marL="0" indent="0" algn="just">
              <a:lnSpc>
                <a:spcPct val="100000"/>
              </a:lnSpc>
              <a:buNone/>
            </a:pPr>
            <a:r>
              <a:rPr lang="en-US" sz="1900" dirty="0">
                <a:latin typeface="Times New Roman" panose="02020603050405020304" pitchFamily="18" charset="0"/>
                <a:cs typeface="Times New Roman" panose="02020603050405020304" pitchFamily="18" charset="0"/>
              </a:rPr>
              <a:t>    The preprocessing module enhances the quality of the uploaded ECG images before analysis. It performs noise removal, contrast enhancement, grayscale conversion, and waveform segmentation. This module ensures that important ECG components such as the P wave, QRS complex, and T wave are clearly visible and accurately extracted for further processing.</a:t>
            </a:r>
          </a:p>
          <a:p>
            <a:pPr algn="just"/>
            <a:endParaRPr lang="en-IN" dirty="0"/>
          </a:p>
        </p:txBody>
      </p:sp>
      <p:sp>
        <p:nvSpPr>
          <p:cNvPr id="4" name="Date Placeholder 3">
            <a:extLst>
              <a:ext uri="{FF2B5EF4-FFF2-40B4-BE49-F238E27FC236}">
                <a16:creationId xmlns:a16="http://schemas.microsoft.com/office/drawing/2014/main" id="{42AF3D12-B7A4-C89B-DAF7-28676EF534EB}"/>
              </a:ext>
            </a:extLst>
          </p:cNvPr>
          <p:cNvSpPr>
            <a:spLocks noGrp="1"/>
          </p:cNvSpPr>
          <p:nvPr>
            <p:ph type="dt" sz="half" idx="10"/>
          </p:nvPr>
        </p:nvSpPr>
        <p:spPr/>
        <p:txBody>
          <a:bodyPr/>
          <a:lstStyle/>
          <a:p>
            <a:fld id="{A7CC006E-755B-48A1-AF56-5DC5A20499E8}" type="datetime1">
              <a:rPr lang="en-IN" smtClean="0"/>
              <a:t>02-04-2026</a:t>
            </a:fld>
            <a:endParaRPr lang="en-IN"/>
          </a:p>
        </p:txBody>
      </p:sp>
      <p:sp>
        <p:nvSpPr>
          <p:cNvPr id="6" name="Slide Number Placeholder 5">
            <a:extLst>
              <a:ext uri="{FF2B5EF4-FFF2-40B4-BE49-F238E27FC236}">
                <a16:creationId xmlns:a16="http://schemas.microsoft.com/office/drawing/2014/main" id="{2461A2B7-95BE-4D6B-2E42-F0177E967E3B}"/>
              </a:ext>
            </a:extLst>
          </p:cNvPr>
          <p:cNvSpPr>
            <a:spLocks noGrp="1"/>
          </p:cNvSpPr>
          <p:nvPr>
            <p:ph type="sldNum" sz="quarter" idx="12"/>
          </p:nvPr>
        </p:nvSpPr>
        <p:spPr/>
        <p:txBody>
          <a:bodyPr/>
          <a:lstStyle/>
          <a:p>
            <a:fld id="{B6A08FA2-6E03-4978-AC29-B1ACFE8A3E2D}" type="slidenum">
              <a:rPr lang="en-IN" smtClean="0"/>
              <a:t>11</a:t>
            </a:fld>
            <a:endParaRPr lang="en-IN"/>
          </a:p>
        </p:txBody>
      </p:sp>
    </p:spTree>
    <p:extLst>
      <p:ext uri="{BB962C8B-B14F-4D97-AF65-F5344CB8AC3E}">
        <p14:creationId xmlns:p14="http://schemas.microsoft.com/office/powerpoint/2010/main" val="2214384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A27C8-9944-713F-79EE-2AEB4E30F3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75A626-753F-68A0-1250-BCDC345579E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Module Description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A8A53F6-C03B-C500-BBCB-97FD36357E31}"/>
              </a:ext>
            </a:extLst>
          </p:cNvPr>
          <p:cNvSpPr>
            <a:spLocks noGrp="1"/>
          </p:cNvSpPr>
          <p:nvPr>
            <p:ph idx="1"/>
          </p:nvPr>
        </p:nvSpPr>
        <p:spPr/>
        <p:txBody>
          <a:bodyPr>
            <a:normAutofit/>
          </a:bodyPr>
          <a:lstStyle/>
          <a:p>
            <a:pPr algn="just"/>
            <a:r>
              <a:rPr lang="en-US" sz="1900" b="1" dirty="0">
                <a:latin typeface="Times New Roman" panose="02020603050405020304" pitchFamily="18" charset="0"/>
                <a:cs typeface="Times New Roman" panose="02020603050405020304" pitchFamily="18" charset="0"/>
              </a:rPr>
              <a:t>Module 3: Feature Extraction Module</a:t>
            </a:r>
          </a:p>
          <a:p>
            <a:pPr marL="0" indent="0" algn="just">
              <a:lnSpc>
                <a:spcPct val="100000"/>
              </a:lnSpc>
              <a:buNone/>
            </a:pPr>
            <a:r>
              <a:rPr lang="en-US" sz="1900" dirty="0">
                <a:latin typeface="Times New Roman" panose="02020603050405020304" pitchFamily="18" charset="0"/>
                <a:cs typeface="Times New Roman" panose="02020603050405020304" pitchFamily="18" charset="0"/>
              </a:rPr>
              <a:t>    This module focuses on extracting meaningful features from the preprocessed ECG images. Using deep learning techniques, it automatically learns spatial and waveform patterns present in the ECG images. These extracted features form the basis for accurate cardiac condition classification.</a:t>
            </a:r>
          </a:p>
          <a:p>
            <a:pPr algn="just"/>
            <a:endParaRPr lang="en-US" sz="1900" b="1" dirty="0">
              <a:latin typeface="Times New Roman" panose="02020603050405020304" pitchFamily="18" charset="0"/>
              <a:cs typeface="Times New Roman" panose="02020603050405020304" pitchFamily="18" charset="0"/>
            </a:endParaRPr>
          </a:p>
          <a:p>
            <a:pPr algn="just"/>
            <a:r>
              <a:rPr lang="en-US" sz="1900" b="1" dirty="0">
                <a:latin typeface="Times New Roman" panose="02020603050405020304" pitchFamily="18" charset="0"/>
                <a:cs typeface="Times New Roman" panose="02020603050405020304" pitchFamily="18" charset="0"/>
              </a:rPr>
              <a:t>Module 4: Cardiac Disease Classification Module</a:t>
            </a:r>
          </a:p>
          <a:p>
            <a:pPr marL="0" indent="0" algn="just">
              <a:lnSpc>
                <a:spcPct val="100000"/>
              </a:lnSpc>
              <a:buNone/>
            </a:pPr>
            <a:r>
              <a:rPr lang="en-US" sz="1900" dirty="0">
                <a:latin typeface="Times New Roman" panose="02020603050405020304" pitchFamily="18" charset="0"/>
                <a:cs typeface="Times New Roman" panose="02020603050405020304" pitchFamily="18" charset="0"/>
              </a:rPr>
              <a:t>    The classification module uses a Convolutional Neural Network (CNN) trained on annotated ECG image datasets. It classifies the ECG images into different cardiac conditions such as arrhythmia, myocardial infarction, tachycardia, bradycardia, and normal sinus rhythm. This module provides high accuracy and better generalization compared to traditional rule‑based methods.</a:t>
            </a:r>
            <a:endParaRPr lang="en-US" sz="1900" b="1" dirty="0">
              <a:latin typeface="Times New Roman" panose="02020603050405020304" pitchFamily="18" charset="0"/>
              <a:cs typeface="Times New Roman" panose="02020603050405020304" pitchFamily="18" charset="0"/>
            </a:endParaRPr>
          </a:p>
          <a:p>
            <a:pPr algn="just"/>
            <a:endParaRPr lang="en-IN" dirty="0"/>
          </a:p>
        </p:txBody>
      </p:sp>
      <p:sp>
        <p:nvSpPr>
          <p:cNvPr id="4" name="Date Placeholder 3">
            <a:extLst>
              <a:ext uri="{FF2B5EF4-FFF2-40B4-BE49-F238E27FC236}">
                <a16:creationId xmlns:a16="http://schemas.microsoft.com/office/drawing/2014/main" id="{5A70565B-EA1E-D6EF-D1D6-0C4991019EA2}"/>
              </a:ext>
            </a:extLst>
          </p:cNvPr>
          <p:cNvSpPr>
            <a:spLocks noGrp="1"/>
          </p:cNvSpPr>
          <p:nvPr>
            <p:ph type="dt" sz="half" idx="10"/>
          </p:nvPr>
        </p:nvSpPr>
        <p:spPr/>
        <p:txBody>
          <a:bodyPr/>
          <a:lstStyle/>
          <a:p>
            <a:fld id="{A7CC006E-755B-48A1-AF56-5DC5A20499E8}" type="datetime1">
              <a:rPr lang="en-IN" smtClean="0"/>
              <a:t>02-04-2026</a:t>
            </a:fld>
            <a:endParaRPr lang="en-IN"/>
          </a:p>
        </p:txBody>
      </p:sp>
      <p:sp>
        <p:nvSpPr>
          <p:cNvPr id="6" name="Slide Number Placeholder 5">
            <a:extLst>
              <a:ext uri="{FF2B5EF4-FFF2-40B4-BE49-F238E27FC236}">
                <a16:creationId xmlns:a16="http://schemas.microsoft.com/office/drawing/2014/main" id="{6CA09697-CC53-2F17-443B-FBF61220EE28}"/>
              </a:ext>
            </a:extLst>
          </p:cNvPr>
          <p:cNvSpPr>
            <a:spLocks noGrp="1"/>
          </p:cNvSpPr>
          <p:nvPr>
            <p:ph type="sldNum" sz="quarter" idx="12"/>
          </p:nvPr>
        </p:nvSpPr>
        <p:spPr/>
        <p:txBody>
          <a:bodyPr/>
          <a:lstStyle/>
          <a:p>
            <a:fld id="{B6A08FA2-6E03-4978-AC29-B1ACFE8A3E2D}" type="slidenum">
              <a:rPr lang="en-IN" smtClean="0"/>
              <a:t>12</a:t>
            </a:fld>
            <a:endParaRPr lang="en-IN"/>
          </a:p>
        </p:txBody>
      </p:sp>
    </p:spTree>
    <p:extLst>
      <p:ext uri="{BB962C8B-B14F-4D97-AF65-F5344CB8AC3E}">
        <p14:creationId xmlns:p14="http://schemas.microsoft.com/office/powerpoint/2010/main" val="2290363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D791B-7485-D84E-2747-9A788734D5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476F0E-3C99-219A-AE3F-A1104AB03CA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Module Description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C15DB2-E0C1-C539-6F5C-C19E3CE3F052}"/>
              </a:ext>
            </a:extLst>
          </p:cNvPr>
          <p:cNvSpPr>
            <a:spLocks noGrp="1"/>
          </p:cNvSpPr>
          <p:nvPr>
            <p:ph idx="1"/>
          </p:nvPr>
        </p:nvSpPr>
        <p:spPr/>
        <p:txBody>
          <a:bodyPr>
            <a:normAutofit/>
          </a:bodyPr>
          <a:lstStyle/>
          <a:p>
            <a:r>
              <a:rPr lang="en-US" sz="1900" b="1" dirty="0">
                <a:latin typeface="Times New Roman" panose="02020603050405020304" pitchFamily="18" charset="0"/>
                <a:cs typeface="Times New Roman" panose="02020603050405020304" pitchFamily="18" charset="0"/>
              </a:rPr>
              <a:t>Module 5: Generative AI‑Based Clinical Interpretation Module</a:t>
            </a:r>
          </a:p>
          <a:p>
            <a:pPr marL="0" indent="0" algn="just">
              <a:lnSpc>
                <a:spcPct val="100000"/>
              </a:lnSpc>
              <a:buNone/>
            </a:pPr>
            <a:r>
              <a:rPr lang="en-US" sz="1900" dirty="0">
                <a:latin typeface="Times New Roman" panose="02020603050405020304" pitchFamily="18" charset="0"/>
                <a:cs typeface="Times New Roman" panose="02020603050405020304" pitchFamily="18" charset="0"/>
              </a:rPr>
              <a:t>    This module integrates Generative AI and Natural Language Processing to convert classification results into detailed, human‑readable clinical reports. The generated reports include ECG interpretation, possible diagnosis, causes of abnormalities, treatment recommendations, and recovery guidelines, making the output useful for both specialists and non‑specialists.</a:t>
            </a:r>
          </a:p>
          <a:p>
            <a:endParaRPr lang="en-US" sz="1900" dirty="0">
              <a:latin typeface="Times New Roman" panose="02020603050405020304" pitchFamily="18" charset="0"/>
              <a:cs typeface="Times New Roman" panose="02020603050405020304" pitchFamily="18" charset="0"/>
            </a:endParaRPr>
          </a:p>
          <a:p>
            <a:r>
              <a:rPr lang="en-US" sz="1900" b="1" dirty="0">
                <a:latin typeface="Times New Roman" panose="02020603050405020304" pitchFamily="18" charset="0"/>
                <a:cs typeface="Times New Roman" panose="02020603050405020304" pitchFamily="18" charset="0"/>
              </a:rPr>
              <a:t>Module 6: Report Display &amp; Decision Support Module</a:t>
            </a:r>
          </a:p>
          <a:p>
            <a:pPr marL="0" indent="0" algn="just">
              <a:lnSpc>
                <a:spcPct val="100000"/>
              </a:lnSpc>
              <a:buNone/>
            </a:pPr>
            <a:r>
              <a:rPr lang="en-US" sz="1900" dirty="0">
                <a:latin typeface="Times New Roman" panose="02020603050405020304" pitchFamily="18" charset="0"/>
                <a:cs typeface="Times New Roman" panose="02020603050405020304" pitchFamily="18" charset="0"/>
              </a:rPr>
              <a:t>    The final module presents the generated clinical report to the user in a clear and structured format. It enables instant access to diagnostic insights, supports clinical decision‑making, and can be integrated with telemedicine platforms to assist remote and real‑time cardiac care.</a:t>
            </a:r>
          </a:p>
        </p:txBody>
      </p:sp>
      <p:sp>
        <p:nvSpPr>
          <p:cNvPr id="4" name="Date Placeholder 3">
            <a:extLst>
              <a:ext uri="{FF2B5EF4-FFF2-40B4-BE49-F238E27FC236}">
                <a16:creationId xmlns:a16="http://schemas.microsoft.com/office/drawing/2014/main" id="{02E9DC1F-9074-9AF3-A120-415D0B65671C}"/>
              </a:ext>
            </a:extLst>
          </p:cNvPr>
          <p:cNvSpPr>
            <a:spLocks noGrp="1"/>
          </p:cNvSpPr>
          <p:nvPr>
            <p:ph type="dt" sz="half" idx="10"/>
          </p:nvPr>
        </p:nvSpPr>
        <p:spPr/>
        <p:txBody>
          <a:bodyPr/>
          <a:lstStyle/>
          <a:p>
            <a:fld id="{A7CC006E-755B-48A1-AF56-5DC5A20499E8}" type="datetime1">
              <a:rPr lang="en-IN" smtClean="0"/>
              <a:t>02-04-2026</a:t>
            </a:fld>
            <a:endParaRPr lang="en-IN"/>
          </a:p>
        </p:txBody>
      </p:sp>
      <p:sp>
        <p:nvSpPr>
          <p:cNvPr id="6" name="Slide Number Placeholder 5">
            <a:extLst>
              <a:ext uri="{FF2B5EF4-FFF2-40B4-BE49-F238E27FC236}">
                <a16:creationId xmlns:a16="http://schemas.microsoft.com/office/drawing/2014/main" id="{B01BD0A6-EEE8-E7D0-6124-9190BDA8CC5E}"/>
              </a:ext>
            </a:extLst>
          </p:cNvPr>
          <p:cNvSpPr>
            <a:spLocks noGrp="1"/>
          </p:cNvSpPr>
          <p:nvPr>
            <p:ph type="sldNum" sz="quarter" idx="12"/>
          </p:nvPr>
        </p:nvSpPr>
        <p:spPr/>
        <p:txBody>
          <a:bodyPr/>
          <a:lstStyle/>
          <a:p>
            <a:fld id="{B6A08FA2-6E03-4978-AC29-B1ACFE8A3E2D}" type="slidenum">
              <a:rPr lang="en-IN" smtClean="0"/>
              <a:t>13</a:t>
            </a:fld>
            <a:endParaRPr lang="en-IN"/>
          </a:p>
        </p:txBody>
      </p:sp>
    </p:spTree>
    <p:extLst>
      <p:ext uri="{BB962C8B-B14F-4D97-AF65-F5344CB8AC3E}">
        <p14:creationId xmlns:p14="http://schemas.microsoft.com/office/powerpoint/2010/main" val="38583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BD0A9-BCF3-4985-177E-582E4C99BE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13388F-FF35-2D83-4D3B-039D6B5A097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Results &amp; Discussion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40B2D9F-E603-08EB-8165-CC3644C8EAAC}"/>
              </a:ext>
            </a:extLst>
          </p:cNvPr>
          <p:cNvSpPr>
            <a:spLocks noGrp="1"/>
          </p:cNvSpPr>
          <p:nvPr>
            <p:ph idx="1"/>
          </p:nvPr>
        </p:nvSpPr>
        <p:spPr/>
        <p:txBody>
          <a:bodyPr>
            <a:normAutofit lnSpcReduction="10000"/>
          </a:bodyPr>
          <a:lstStyle/>
          <a:p>
            <a:pPr algn="just"/>
            <a:r>
              <a:rPr lang="en-US" sz="1900" dirty="0">
                <a:latin typeface="Times New Roman" panose="02020603050405020304" pitchFamily="18" charset="0"/>
                <a:cs typeface="Times New Roman" panose="02020603050405020304" pitchFamily="18" charset="0"/>
              </a:rPr>
              <a:t>The system successfully analyzes uploaded ECG images and produces accurate diagnostic results when image quality is good</a:t>
            </a:r>
          </a:p>
          <a:p>
            <a:pPr algn="just"/>
            <a:r>
              <a:rPr lang="en-US" sz="1900" dirty="0">
                <a:latin typeface="Times New Roman" panose="02020603050405020304" pitchFamily="18" charset="0"/>
                <a:cs typeface="Times New Roman" panose="02020603050405020304" pitchFamily="18" charset="0"/>
              </a:rPr>
              <a:t>The CNN‑based deep learning model achieved an overall classification accuracy of approximately 95%</a:t>
            </a:r>
          </a:p>
          <a:p>
            <a:pPr algn="just"/>
            <a:r>
              <a:rPr lang="en-US" sz="1900" dirty="0">
                <a:latin typeface="Times New Roman" panose="02020603050405020304" pitchFamily="18" charset="0"/>
                <a:cs typeface="Times New Roman" panose="02020603050405020304" pitchFamily="18" charset="0"/>
              </a:rPr>
              <a:t>Cardiac conditions such as arrhythmia, myocardial infarction, tachycardia, bradycardia, and normal sinus rhythm were correctly identified</a:t>
            </a:r>
          </a:p>
          <a:p>
            <a:pPr algn="just"/>
            <a:r>
              <a:rPr lang="en-US" sz="1900" dirty="0">
                <a:latin typeface="Times New Roman" panose="02020603050405020304" pitchFamily="18" charset="0"/>
                <a:cs typeface="Times New Roman" panose="02020603050405020304" pitchFamily="18" charset="0"/>
              </a:rPr>
              <a:t>The Generative AI module generates detailed and clinically meaningful interpretation reports in most cases</a:t>
            </a:r>
          </a:p>
          <a:p>
            <a:pPr algn="just"/>
            <a:r>
              <a:rPr lang="en-US" sz="1900" dirty="0">
                <a:latin typeface="Times New Roman" panose="02020603050405020304" pitchFamily="18" charset="0"/>
                <a:cs typeface="Times New Roman" panose="02020603050405020304" pitchFamily="18" charset="0"/>
              </a:rPr>
              <a:t>Minor inconsistencies may occur in rare edge cases due to language model limitations, with report accuracy around 80% in such scenarios</a:t>
            </a:r>
          </a:p>
          <a:p>
            <a:pPr algn="just"/>
            <a:r>
              <a:rPr lang="en-US" sz="1900" dirty="0">
                <a:latin typeface="Times New Roman" panose="02020603050405020304" pitchFamily="18" charset="0"/>
                <a:cs typeface="Times New Roman" panose="02020603050405020304" pitchFamily="18" charset="0"/>
              </a:rPr>
              <a:t>The system provides real‑time or near real‑time responses, ensuring fast diagnosis and smooth user experience</a:t>
            </a:r>
          </a:p>
          <a:p>
            <a:pPr algn="just"/>
            <a:r>
              <a:rPr lang="en-US" sz="1900" dirty="0">
                <a:latin typeface="Times New Roman" panose="02020603050405020304" pitchFamily="18" charset="0"/>
                <a:cs typeface="Times New Roman" panose="02020603050405020304" pitchFamily="18" charset="0"/>
              </a:rPr>
              <a:t>A user‑friendly interface allows easy ECG image upload and clear presentation of results</a:t>
            </a:r>
          </a:p>
          <a:p>
            <a:pPr algn="just"/>
            <a:r>
              <a:rPr lang="en-US" sz="1900" dirty="0">
                <a:latin typeface="Times New Roman" panose="02020603050405020304" pitchFamily="18" charset="0"/>
                <a:cs typeface="Times New Roman" panose="02020603050405020304" pitchFamily="18" charset="0"/>
              </a:rPr>
              <a:t>Secure data storage and authentication mechanisms protect sensitive diagnostic information</a:t>
            </a:r>
            <a:endParaRPr lang="en-IN" sz="19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7DEDFEF-F475-03C4-1D8A-E888FF68EC4E}"/>
              </a:ext>
            </a:extLst>
          </p:cNvPr>
          <p:cNvSpPr>
            <a:spLocks noGrp="1"/>
          </p:cNvSpPr>
          <p:nvPr>
            <p:ph type="dt" sz="half" idx="10"/>
          </p:nvPr>
        </p:nvSpPr>
        <p:spPr/>
        <p:txBody>
          <a:bodyPr/>
          <a:lstStyle/>
          <a:p>
            <a:fld id="{0FF34BE6-7FF4-4EB9-BE9E-DA698D9A81A8}" type="datetime1">
              <a:rPr lang="en-IN" smtClean="0"/>
              <a:t>02-04-2026</a:t>
            </a:fld>
            <a:endParaRPr lang="en-IN"/>
          </a:p>
        </p:txBody>
      </p:sp>
      <p:sp>
        <p:nvSpPr>
          <p:cNvPr id="6" name="Slide Number Placeholder 5">
            <a:extLst>
              <a:ext uri="{FF2B5EF4-FFF2-40B4-BE49-F238E27FC236}">
                <a16:creationId xmlns:a16="http://schemas.microsoft.com/office/drawing/2014/main" id="{08003E5D-FB8D-6CDD-2518-551277E62E8F}"/>
              </a:ext>
            </a:extLst>
          </p:cNvPr>
          <p:cNvSpPr>
            <a:spLocks noGrp="1"/>
          </p:cNvSpPr>
          <p:nvPr>
            <p:ph type="sldNum" sz="quarter" idx="12"/>
          </p:nvPr>
        </p:nvSpPr>
        <p:spPr/>
        <p:txBody>
          <a:bodyPr/>
          <a:lstStyle/>
          <a:p>
            <a:fld id="{B6A08FA2-6E03-4978-AC29-B1ACFE8A3E2D}" type="slidenum">
              <a:rPr lang="en-IN" smtClean="0"/>
              <a:t>14</a:t>
            </a:fld>
            <a:endParaRPr lang="en-IN"/>
          </a:p>
        </p:txBody>
      </p:sp>
    </p:spTree>
    <p:extLst>
      <p:ext uri="{BB962C8B-B14F-4D97-AF65-F5344CB8AC3E}">
        <p14:creationId xmlns:p14="http://schemas.microsoft.com/office/powerpoint/2010/main" val="3442820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4D6E0-C66F-3EE3-EF78-9A8444C470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55D1A6-9E48-6BC3-2E99-BD8D4E96446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Screenshots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CB73C54-DB00-C191-B8C5-01B0C98211A5}"/>
              </a:ext>
            </a:extLst>
          </p:cNvPr>
          <p:cNvSpPr>
            <a:spLocks noGrp="1"/>
          </p:cNvSpPr>
          <p:nvPr>
            <p:ph idx="1"/>
          </p:nvPr>
        </p:nvSpPr>
        <p:spPr/>
        <p:txBody>
          <a:bodyPr>
            <a:normAutofit lnSpcReduction="10000"/>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lgn="ctr">
              <a:buNone/>
            </a:pPr>
            <a:r>
              <a:rPr lang="en-IN" dirty="0"/>
              <a:t>               </a:t>
            </a:r>
            <a:r>
              <a:rPr lang="en-US" sz="1900" b="1" dirty="0">
                <a:latin typeface="Times New Roman" panose="02020603050405020304" pitchFamily="18" charset="0"/>
                <a:cs typeface="Times New Roman" panose="02020603050405020304" pitchFamily="18" charset="0"/>
              </a:rPr>
              <a:t>Uploading Image to the ECG</a:t>
            </a:r>
            <a:endParaRPr lang="en-IN" sz="1900"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Date Placeholder 3">
            <a:extLst>
              <a:ext uri="{FF2B5EF4-FFF2-40B4-BE49-F238E27FC236}">
                <a16:creationId xmlns:a16="http://schemas.microsoft.com/office/drawing/2014/main" id="{84C6D207-EA2F-9361-FF07-A295D75C5434}"/>
              </a:ext>
            </a:extLst>
          </p:cNvPr>
          <p:cNvSpPr>
            <a:spLocks noGrp="1"/>
          </p:cNvSpPr>
          <p:nvPr>
            <p:ph type="dt" sz="half" idx="10"/>
          </p:nvPr>
        </p:nvSpPr>
        <p:spPr/>
        <p:txBody>
          <a:bodyPr/>
          <a:lstStyle/>
          <a:p>
            <a:fld id="{544F3B7E-D7B4-42B0-A405-0E78122C139B}" type="datetime1">
              <a:rPr lang="en-IN" smtClean="0"/>
              <a:t>02-04-2026</a:t>
            </a:fld>
            <a:endParaRPr lang="en-IN"/>
          </a:p>
        </p:txBody>
      </p:sp>
      <p:sp>
        <p:nvSpPr>
          <p:cNvPr id="6" name="Slide Number Placeholder 5">
            <a:extLst>
              <a:ext uri="{FF2B5EF4-FFF2-40B4-BE49-F238E27FC236}">
                <a16:creationId xmlns:a16="http://schemas.microsoft.com/office/drawing/2014/main" id="{6F76078D-E05A-668D-D7D3-6EAEA60154FD}"/>
              </a:ext>
            </a:extLst>
          </p:cNvPr>
          <p:cNvSpPr>
            <a:spLocks noGrp="1"/>
          </p:cNvSpPr>
          <p:nvPr>
            <p:ph type="sldNum" sz="quarter" idx="12"/>
          </p:nvPr>
        </p:nvSpPr>
        <p:spPr/>
        <p:txBody>
          <a:bodyPr/>
          <a:lstStyle/>
          <a:p>
            <a:fld id="{B6A08FA2-6E03-4978-AC29-B1ACFE8A3E2D}" type="slidenum">
              <a:rPr lang="en-IN" smtClean="0"/>
              <a:t>15</a:t>
            </a:fld>
            <a:endParaRPr lang="en-IN"/>
          </a:p>
        </p:txBody>
      </p:sp>
      <p:pic>
        <p:nvPicPr>
          <p:cNvPr id="5" name="Picture 4">
            <a:extLst>
              <a:ext uri="{FF2B5EF4-FFF2-40B4-BE49-F238E27FC236}">
                <a16:creationId xmlns:a16="http://schemas.microsoft.com/office/drawing/2014/main" id="{7F4796FC-CFD9-7EA4-FB50-BAE4ACC5127E}"/>
              </a:ext>
            </a:extLst>
          </p:cNvPr>
          <p:cNvPicPr>
            <a:picLocks noChangeAspect="1"/>
          </p:cNvPicPr>
          <p:nvPr/>
        </p:nvPicPr>
        <p:blipFill>
          <a:blip r:embed="rId2"/>
          <a:stretch>
            <a:fillRect/>
          </a:stretch>
        </p:blipFill>
        <p:spPr>
          <a:xfrm>
            <a:off x="1302589" y="1419659"/>
            <a:ext cx="10051211" cy="4018681"/>
          </a:xfrm>
          <a:prstGeom prst="rect">
            <a:avLst/>
          </a:prstGeom>
          <a:noFill/>
          <a:ln>
            <a:noFill/>
          </a:ln>
        </p:spPr>
      </p:pic>
    </p:spTree>
    <p:extLst>
      <p:ext uri="{BB962C8B-B14F-4D97-AF65-F5344CB8AC3E}">
        <p14:creationId xmlns:p14="http://schemas.microsoft.com/office/powerpoint/2010/main" val="9018340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31E1B-E091-2370-9644-AF31B2D1D2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EC6097-74D7-79CD-51D5-D89BCAC96102}"/>
              </a:ext>
            </a:extLst>
          </p:cNvPr>
          <p:cNvSpPr>
            <a:spLocks noGrp="1"/>
          </p:cNvSpPr>
          <p:nvPr>
            <p:ph idx="1"/>
          </p:nvPr>
        </p:nvSpPr>
        <p:spPr/>
        <p:txBody>
          <a:bodyPr>
            <a:normAutofit lnSpcReduction="10000"/>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lgn="ctr">
              <a:buNone/>
            </a:pPr>
            <a:r>
              <a:rPr lang="en-US" sz="1900" b="1" dirty="0">
                <a:latin typeface="Times New Roman" panose="02020603050405020304" pitchFamily="18" charset="0"/>
                <a:cs typeface="Times New Roman" panose="02020603050405020304" pitchFamily="18" charset="0"/>
              </a:rPr>
              <a:t>Image Preprocessing</a:t>
            </a:r>
            <a:endParaRPr lang="en-IN" sz="1900"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Date Placeholder 3">
            <a:extLst>
              <a:ext uri="{FF2B5EF4-FFF2-40B4-BE49-F238E27FC236}">
                <a16:creationId xmlns:a16="http://schemas.microsoft.com/office/drawing/2014/main" id="{73360160-3A56-52B4-B1B6-AF76C523F89E}"/>
              </a:ext>
            </a:extLst>
          </p:cNvPr>
          <p:cNvSpPr>
            <a:spLocks noGrp="1"/>
          </p:cNvSpPr>
          <p:nvPr>
            <p:ph type="dt" sz="half" idx="10"/>
          </p:nvPr>
        </p:nvSpPr>
        <p:spPr/>
        <p:txBody>
          <a:bodyPr/>
          <a:lstStyle/>
          <a:p>
            <a:fld id="{544F3B7E-D7B4-42B0-A405-0E78122C139B}" type="datetime1">
              <a:rPr lang="en-IN" smtClean="0"/>
              <a:t>02-04-2026</a:t>
            </a:fld>
            <a:endParaRPr lang="en-IN"/>
          </a:p>
        </p:txBody>
      </p:sp>
      <p:sp>
        <p:nvSpPr>
          <p:cNvPr id="6" name="Slide Number Placeholder 5">
            <a:extLst>
              <a:ext uri="{FF2B5EF4-FFF2-40B4-BE49-F238E27FC236}">
                <a16:creationId xmlns:a16="http://schemas.microsoft.com/office/drawing/2014/main" id="{880E7237-75BF-80F1-2D06-06E9F72F708A}"/>
              </a:ext>
            </a:extLst>
          </p:cNvPr>
          <p:cNvSpPr>
            <a:spLocks noGrp="1"/>
          </p:cNvSpPr>
          <p:nvPr>
            <p:ph type="sldNum" sz="quarter" idx="12"/>
          </p:nvPr>
        </p:nvSpPr>
        <p:spPr/>
        <p:txBody>
          <a:bodyPr/>
          <a:lstStyle/>
          <a:p>
            <a:fld id="{B6A08FA2-6E03-4978-AC29-B1ACFE8A3E2D}" type="slidenum">
              <a:rPr lang="en-IN" smtClean="0"/>
              <a:t>16</a:t>
            </a:fld>
            <a:endParaRPr lang="en-IN"/>
          </a:p>
        </p:txBody>
      </p:sp>
      <p:pic>
        <p:nvPicPr>
          <p:cNvPr id="7" name="Picture 6">
            <a:extLst>
              <a:ext uri="{FF2B5EF4-FFF2-40B4-BE49-F238E27FC236}">
                <a16:creationId xmlns:a16="http://schemas.microsoft.com/office/drawing/2014/main" id="{A7311963-0392-2389-9CE4-FEE0A62ED8AA}"/>
              </a:ext>
            </a:extLst>
          </p:cNvPr>
          <p:cNvPicPr>
            <a:picLocks noChangeAspect="1"/>
          </p:cNvPicPr>
          <p:nvPr/>
        </p:nvPicPr>
        <p:blipFill>
          <a:blip r:embed="rId2"/>
          <a:stretch>
            <a:fillRect/>
          </a:stretch>
        </p:blipFill>
        <p:spPr>
          <a:xfrm>
            <a:off x="1731034" y="681037"/>
            <a:ext cx="8936965" cy="4879496"/>
          </a:xfrm>
          <a:prstGeom prst="rect">
            <a:avLst/>
          </a:prstGeom>
          <a:noFill/>
          <a:ln>
            <a:noFill/>
          </a:ln>
        </p:spPr>
      </p:pic>
    </p:spTree>
    <p:extLst>
      <p:ext uri="{BB962C8B-B14F-4D97-AF65-F5344CB8AC3E}">
        <p14:creationId xmlns:p14="http://schemas.microsoft.com/office/powerpoint/2010/main" val="66150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308AE-8A9F-55B5-D926-E5E9F0A6665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9387AA-FFB3-564F-AA29-9760AF0B165A}"/>
              </a:ext>
            </a:extLst>
          </p:cNvPr>
          <p:cNvSpPr>
            <a:spLocks noGrp="1"/>
          </p:cNvSpPr>
          <p:nvPr>
            <p:ph idx="1"/>
          </p:nvPr>
        </p:nvSpPr>
        <p:spPr/>
        <p:txBody>
          <a:bodyPr>
            <a:normAutofit lnSpcReduction="10000"/>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US" sz="1900" b="1" dirty="0">
                <a:latin typeface="Times New Roman" panose="02020603050405020304" pitchFamily="18" charset="0"/>
                <a:cs typeface="Times New Roman" panose="02020603050405020304" pitchFamily="18" charset="0"/>
              </a:rPr>
              <a:t>                          Generative AI                                           Clinical report Creation Module</a:t>
            </a:r>
          </a:p>
          <a:p>
            <a:pPr marL="0" indent="0">
              <a:buNone/>
            </a:pPr>
            <a:endParaRPr lang="en-IN" dirty="0"/>
          </a:p>
        </p:txBody>
      </p:sp>
      <p:sp>
        <p:nvSpPr>
          <p:cNvPr id="4" name="Date Placeholder 3">
            <a:extLst>
              <a:ext uri="{FF2B5EF4-FFF2-40B4-BE49-F238E27FC236}">
                <a16:creationId xmlns:a16="http://schemas.microsoft.com/office/drawing/2014/main" id="{E8BC384A-4B48-5886-FCE5-06C6DCD920D1}"/>
              </a:ext>
            </a:extLst>
          </p:cNvPr>
          <p:cNvSpPr>
            <a:spLocks noGrp="1"/>
          </p:cNvSpPr>
          <p:nvPr>
            <p:ph type="dt" sz="half" idx="10"/>
          </p:nvPr>
        </p:nvSpPr>
        <p:spPr/>
        <p:txBody>
          <a:bodyPr/>
          <a:lstStyle/>
          <a:p>
            <a:fld id="{544F3B7E-D7B4-42B0-A405-0E78122C139B}" type="datetime1">
              <a:rPr lang="en-IN" smtClean="0"/>
              <a:t>02-04-2026</a:t>
            </a:fld>
            <a:endParaRPr lang="en-IN"/>
          </a:p>
        </p:txBody>
      </p:sp>
      <p:sp>
        <p:nvSpPr>
          <p:cNvPr id="6" name="Slide Number Placeholder 5">
            <a:extLst>
              <a:ext uri="{FF2B5EF4-FFF2-40B4-BE49-F238E27FC236}">
                <a16:creationId xmlns:a16="http://schemas.microsoft.com/office/drawing/2014/main" id="{C833A6B4-475A-6DD6-5A3A-CE90256E600B}"/>
              </a:ext>
            </a:extLst>
          </p:cNvPr>
          <p:cNvSpPr>
            <a:spLocks noGrp="1"/>
          </p:cNvSpPr>
          <p:nvPr>
            <p:ph type="sldNum" sz="quarter" idx="12"/>
          </p:nvPr>
        </p:nvSpPr>
        <p:spPr/>
        <p:txBody>
          <a:bodyPr/>
          <a:lstStyle/>
          <a:p>
            <a:fld id="{B6A08FA2-6E03-4978-AC29-B1ACFE8A3E2D}" type="slidenum">
              <a:rPr lang="en-IN" smtClean="0"/>
              <a:t>17</a:t>
            </a:fld>
            <a:endParaRPr lang="en-IN"/>
          </a:p>
        </p:txBody>
      </p:sp>
      <p:pic>
        <p:nvPicPr>
          <p:cNvPr id="8" name="Picture 7">
            <a:extLst>
              <a:ext uri="{FF2B5EF4-FFF2-40B4-BE49-F238E27FC236}">
                <a16:creationId xmlns:a16="http://schemas.microsoft.com/office/drawing/2014/main" id="{F6780D78-AF50-F1D0-D97D-38F635CD510B}"/>
              </a:ext>
            </a:extLst>
          </p:cNvPr>
          <p:cNvPicPr>
            <a:picLocks noChangeAspect="1"/>
          </p:cNvPicPr>
          <p:nvPr/>
        </p:nvPicPr>
        <p:blipFill>
          <a:blip r:embed="rId2"/>
          <a:stretch>
            <a:fillRect/>
          </a:stretch>
        </p:blipFill>
        <p:spPr>
          <a:xfrm>
            <a:off x="910627" y="681037"/>
            <a:ext cx="3561250" cy="4512065"/>
          </a:xfrm>
          <a:prstGeom prst="rect">
            <a:avLst/>
          </a:prstGeom>
          <a:noFill/>
          <a:ln>
            <a:noFill/>
          </a:ln>
        </p:spPr>
      </p:pic>
      <p:pic>
        <p:nvPicPr>
          <p:cNvPr id="9" name="Picture 8">
            <a:extLst>
              <a:ext uri="{FF2B5EF4-FFF2-40B4-BE49-F238E27FC236}">
                <a16:creationId xmlns:a16="http://schemas.microsoft.com/office/drawing/2014/main" id="{1E44293D-A9D8-8F56-00E0-C904F45E34F2}"/>
              </a:ext>
            </a:extLst>
          </p:cNvPr>
          <p:cNvPicPr>
            <a:picLocks noChangeAspect="1"/>
          </p:cNvPicPr>
          <p:nvPr/>
        </p:nvPicPr>
        <p:blipFill>
          <a:blip r:embed="rId3"/>
          <a:stretch>
            <a:fillRect/>
          </a:stretch>
        </p:blipFill>
        <p:spPr>
          <a:xfrm>
            <a:off x="5096295" y="612026"/>
            <a:ext cx="5633087" cy="4848401"/>
          </a:xfrm>
          <a:prstGeom prst="rect">
            <a:avLst/>
          </a:prstGeom>
          <a:noFill/>
          <a:ln>
            <a:noFill/>
          </a:ln>
        </p:spPr>
      </p:pic>
    </p:spTree>
    <p:extLst>
      <p:ext uri="{BB962C8B-B14F-4D97-AF65-F5344CB8AC3E}">
        <p14:creationId xmlns:p14="http://schemas.microsoft.com/office/powerpoint/2010/main" val="2827154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012E9-73A7-647D-3072-2B780BE8EE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A6D766-50C1-4B7C-E796-F3067CC3465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2067BF4-5141-EA81-9E2C-1D1B8928214F}"/>
              </a:ext>
            </a:extLst>
          </p:cNvPr>
          <p:cNvSpPr>
            <a:spLocks noGrp="1"/>
          </p:cNvSpPr>
          <p:nvPr>
            <p:ph idx="1"/>
          </p:nvPr>
        </p:nvSpPr>
        <p:spPr/>
        <p:txBody>
          <a:bodyPr>
            <a:normAutofit/>
          </a:bodyPr>
          <a:lstStyle/>
          <a:p>
            <a:pPr algn="just"/>
            <a:r>
              <a:rPr lang="en-US" sz="1900" dirty="0">
                <a:latin typeface="Times New Roman" panose="02020603050405020304" pitchFamily="18" charset="0"/>
                <a:cs typeface="Times New Roman" panose="02020603050405020304" pitchFamily="18" charset="0"/>
              </a:rPr>
              <a:t>The AI‑Driven ECG Image Analysis and Clinical Interpretation System successfully demonstrates the application of Artificial Intelligence in cardiac diagnosis</a:t>
            </a:r>
          </a:p>
          <a:p>
            <a:pPr algn="just"/>
            <a:r>
              <a:rPr lang="en-US" sz="1900" dirty="0">
                <a:latin typeface="Times New Roman" panose="02020603050405020304" pitchFamily="18" charset="0"/>
                <a:cs typeface="Times New Roman" panose="02020603050405020304" pitchFamily="18" charset="0"/>
              </a:rPr>
              <a:t>The system integrates ECG image preprocessing, CNN‑based deep learning classification, and Generative AI‑based clinical report generation into a unified platform</a:t>
            </a:r>
          </a:p>
          <a:p>
            <a:pPr algn="just"/>
            <a:r>
              <a:rPr lang="en-US" sz="1900" dirty="0">
                <a:latin typeface="Times New Roman" panose="02020603050405020304" pitchFamily="18" charset="0"/>
                <a:cs typeface="Times New Roman" panose="02020603050405020304" pitchFamily="18" charset="0"/>
              </a:rPr>
              <a:t>It accurately classifies multiple cardiac conditions such as arrhythmia, myocardial infarction, tachycardia, bradycardia, and normal sinus rhythm with an accuracy of about 95%</a:t>
            </a:r>
          </a:p>
          <a:p>
            <a:pPr algn="just"/>
            <a:r>
              <a:rPr lang="en-US" sz="1900" dirty="0">
                <a:latin typeface="Times New Roman" panose="02020603050405020304" pitchFamily="18" charset="0"/>
                <a:cs typeface="Times New Roman" panose="02020603050405020304" pitchFamily="18" charset="0"/>
              </a:rPr>
              <a:t>The Generative AI module enhances clinical usefulness by producing human‑readable and actionable diagnostic reports rather than simple labels</a:t>
            </a:r>
          </a:p>
          <a:p>
            <a:pPr algn="just"/>
            <a:r>
              <a:rPr lang="en-US" sz="1900" dirty="0">
                <a:latin typeface="Times New Roman" panose="02020603050405020304" pitchFamily="18" charset="0"/>
                <a:cs typeface="Times New Roman" panose="02020603050405020304" pitchFamily="18" charset="0"/>
              </a:rPr>
              <a:t>The system delivers real‑time diagnostic responses through a user‑friendly and secure interface, making it accessible to healthcare professionals, students, and telemedicine platforms</a:t>
            </a:r>
          </a:p>
          <a:p>
            <a:pPr algn="just"/>
            <a:r>
              <a:rPr lang="en-US" sz="1900" dirty="0">
                <a:latin typeface="Times New Roman" panose="02020603050405020304" pitchFamily="18" charset="0"/>
                <a:cs typeface="Times New Roman" panose="02020603050405020304" pitchFamily="18" charset="0"/>
              </a:rPr>
              <a:t>Overall, the project proves to be an efficient, reliable, and practical decision‑support tool that improves the accuracy, efficiency, and accessibility of ECG‑based cardiac diagnosis</a:t>
            </a:r>
            <a:endParaRPr lang="en-IN" sz="19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DBC3F86-DD42-61B4-D19F-D4288317C145}"/>
              </a:ext>
            </a:extLst>
          </p:cNvPr>
          <p:cNvSpPr>
            <a:spLocks noGrp="1"/>
          </p:cNvSpPr>
          <p:nvPr>
            <p:ph type="dt" sz="half" idx="10"/>
          </p:nvPr>
        </p:nvSpPr>
        <p:spPr/>
        <p:txBody>
          <a:bodyPr/>
          <a:lstStyle/>
          <a:p>
            <a:fld id="{30E93241-78CD-41FD-9FFF-E158D31A3E18}" type="datetime1">
              <a:rPr lang="en-IN" smtClean="0"/>
              <a:t>02-04-2026</a:t>
            </a:fld>
            <a:endParaRPr lang="en-IN"/>
          </a:p>
        </p:txBody>
      </p:sp>
      <p:sp>
        <p:nvSpPr>
          <p:cNvPr id="6" name="Slide Number Placeholder 5">
            <a:extLst>
              <a:ext uri="{FF2B5EF4-FFF2-40B4-BE49-F238E27FC236}">
                <a16:creationId xmlns:a16="http://schemas.microsoft.com/office/drawing/2014/main" id="{3D15FAC0-2EAA-8E1B-B250-FA256F786D27}"/>
              </a:ext>
            </a:extLst>
          </p:cNvPr>
          <p:cNvSpPr>
            <a:spLocks noGrp="1"/>
          </p:cNvSpPr>
          <p:nvPr>
            <p:ph type="sldNum" sz="quarter" idx="12"/>
          </p:nvPr>
        </p:nvSpPr>
        <p:spPr/>
        <p:txBody>
          <a:bodyPr/>
          <a:lstStyle/>
          <a:p>
            <a:fld id="{B6A08FA2-6E03-4978-AC29-B1ACFE8A3E2D}" type="slidenum">
              <a:rPr lang="en-IN" smtClean="0"/>
              <a:t>18</a:t>
            </a:fld>
            <a:endParaRPr lang="en-IN"/>
          </a:p>
        </p:txBody>
      </p:sp>
    </p:spTree>
    <p:extLst>
      <p:ext uri="{BB962C8B-B14F-4D97-AF65-F5344CB8AC3E}">
        <p14:creationId xmlns:p14="http://schemas.microsoft.com/office/powerpoint/2010/main" val="37110305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410CC-0F98-AE0D-3D8A-EF0D9ECC8D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A4872D-4FA7-89B9-D79B-CB04C03C822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Future Scope &amp; Enhancements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F3CEF5F-708E-C5AE-C883-715FC2CBF36C}"/>
              </a:ext>
            </a:extLst>
          </p:cNvPr>
          <p:cNvSpPr>
            <a:spLocks noGrp="1"/>
          </p:cNvSpPr>
          <p:nvPr>
            <p:ph idx="1"/>
          </p:nvPr>
        </p:nvSpPr>
        <p:spPr/>
        <p:txBody>
          <a:bodyPr>
            <a:normAutofit lnSpcReduction="10000"/>
          </a:bodyPr>
          <a:lstStyle/>
          <a:p>
            <a:pPr algn="just"/>
            <a:r>
              <a:rPr lang="en-US" sz="1900" dirty="0">
                <a:latin typeface="Times New Roman" panose="02020603050405020304" pitchFamily="18" charset="0"/>
                <a:cs typeface="Times New Roman" panose="02020603050405020304" pitchFamily="18" charset="0"/>
              </a:rPr>
              <a:t>Expand and diversify the ECG image dataset to improve classification accuracy and handle rare or complex cardiac conditions</a:t>
            </a:r>
          </a:p>
          <a:p>
            <a:pPr algn="just"/>
            <a:r>
              <a:rPr lang="en-US" sz="1900" dirty="0">
                <a:latin typeface="Times New Roman" panose="02020603050405020304" pitchFamily="18" charset="0"/>
                <a:cs typeface="Times New Roman" panose="02020603050405020304" pitchFamily="18" charset="0"/>
              </a:rPr>
              <a:t>Fine‑tune the Generative AI model with medical guidelines and clinical data to reduce hallucinations and improve report reliability</a:t>
            </a:r>
          </a:p>
          <a:p>
            <a:pPr algn="just"/>
            <a:r>
              <a:rPr lang="en-US" sz="1900" dirty="0">
                <a:latin typeface="Times New Roman" panose="02020603050405020304" pitchFamily="18" charset="0"/>
                <a:cs typeface="Times New Roman" panose="02020603050405020304" pitchFamily="18" charset="0"/>
              </a:rPr>
              <a:t>Integrate multimodal data such as patient history, lab reports, vital signs, and wearable device data for comprehensive diagnosis</a:t>
            </a:r>
          </a:p>
          <a:p>
            <a:pPr algn="just"/>
            <a:r>
              <a:rPr lang="en-US" sz="1900" dirty="0">
                <a:latin typeface="Times New Roman" panose="02020603050405020304" pitchFamily="18" charset="0"/>
                <a:cs typeface="Times New Roman" panose="02020603050405020304" pitchFamily="18" charset="0"/>
              </a:rPr>
              <a:t>Implement Explainable AI (XAI) techniques to improve transparency and clinician trust in model decisions</a:t>
            </a:r>
          </a:p>
          <a:p>
            <a:pPr algn="just"/>
            <a:r>
              <a:rPr lang="en-US" sz="1900" dirty="0">
                <a:latin typeface="Times New Roman" panose="02020603050405020304" pitchFamily="18" charset="0"/>
                <a:cs typeface="Times New Roman" panose="02020603050405020304" pitchFamily="18" charset="0"/>
              </a:rPr>
              <a:t>Enhance security features using advanced encryption, role‑based access control, and multi‑factor authentication</a:t>
            </a:r>
          </a:p>
          <a:p>
            <a:pPr algn="just"/>
            <a:r>
              <a:rPr lang="en-US" sz="1900" dirty="0">
                <a:latin typeface="Times New Roman" panose="02020603050405020304" pitchFamily="18" charset="0"/>
                <a:cs typeface="Times New Roman" panose="02020603050405020304" pitchFamily="18" charset="0"/>
              </a:rPr>
              <a:t>Improve scalability and performance using cloud deployment and distributed processing</a:t>
            </a:r>
          </a:p>
          <a:p>
            <a:pPr algn="just"/>
            <a:r>
              <a:rPr lang="en-US" sz="1900" dirty="0">
                <a:latin typeface="Times New Roman" panose="02020603050405020304" pitchFamily="18" charset="0"/>
                <a:cs typeface="Times New Roman" panose="02020603050405020304" pitchFamily="18" charset="0"/>
              </a:rPr>
              <a:t>Extend the system with multilingual report generation, mobile application support, and EHR integration</a:t>
            </a:r>
          </a:p>
          <a:p>
            <a:pPr algn="just"/>
            <a:r>
              <a:rPr lang="en-US" sz="1900" dirty="0">
                <a:latin typeface="Times New Roman" panose="02020603050405020304" pitchFamily="18" charset="0"/>
                <a:cs typeface="Times New Roman" panose="02020603050405020304" pitchFamily="18" charset="0"/>
              </a:rPr>
              <a:t>Introduce continuous learning mechanisms to improve model performance with real‑world ECG data over time</a:t>
            </a:r>
            <a:endParaRPr lang="en-IN" sz="19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A5B58A33-8D95-C155-AF3F-3171FCD247A5}"/>
              </a:ext>
            </a:extLst>
          </p:cNvPr>
          <p:cNvSpPr>
            <a:spLocks noGrp="1"/>
          </p:cNvSpPr>
          <p:nvPr>
            <p:ph type="dt" sz="half" idx="10"/>
          </p:nvPr>
        </p:nvSpPr>
        <p:spPr/>
        <p:txBody>
          <a:bodyPr/>
          <a:lstStyle/>
          <a:p>
            <a:fld id="{30E93241-78CD-41FD-9FFF-E158D31A3E18}" type="datetime1">
              <a:rPr lang="en-IN" smtClean="0"/>
              <a:t>02-04-2026</a:t>
            </a:fld>
            <a:endParaRPr lang="en-IN"/>
          </a:p>
        </p:txBody>
      </p:sp>
      <p:sp>
        <p:nvSpPr>
          <p:cNvPr id="6" name="Slide Number Placeholder 5">
            <a:extLst>
              <a:ext uri="{FF2B5EF4-FFF2-40B4-BE49-F238E27FC236}">
                <a16:creationId xmlns:a16="http://schemas.microsoft.com/office/drawing/2014/main" id="{DAC09622-03C2-E781-FEAA-4C2FE3A314D9}"/>
              </a:ext>
            </a:extLst>
          </p:cNvPr>
          <p:cNvSpPr>
            <a:spLocks noGrp="1"/>
          </p:cNvSpPr>
          <p:nvPr>
            <p:ph type="sldNum" sz="quarter" idx="12"/>
          </p:nvPr>
        </p:nvSpPr>
        <p:spPr/>
        <p:txBody>
          <a:bodyPr/>
          <a:lstStyle/>
          <a:p>
            <a:fld id="{B6A08FA2-6E03-4978-AC29-B1ACFE8A3E2D}" type="slidenum">
              <a:rPr lang="en-IN" smtClean="0"/>
              <a:t>19</a:t>
            </a:fld>
            <a:endParaRPr lang="en-IN"/>
          </a:p>
        </p:txBody>
      </p:sp>
    </p:spTree>
    <p:extLst>
      <p:ext uri="{BB962C8B-B14F-4D97-AF65-F5344CB8AC3E}">
        <p14:creationId xmlns:p14="http://schemas.microsoft.com/office/powerpoint/2010/main" val="23982668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7940F-6B4F-C560-ED57-2FC151C25C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631787-BEB0-6CE3-A1C7-2092210922D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A6847C7-1DE7-0718-9A7E-0B29AC1ABEC7}"/>
              </a:ext>
            </a:extLst>
          </p:cNvPr>
          <p:cNvSpPr>
            <a:spLocks noGrp="1"/>
          </p:cNvSpPr>
          <p:nvPr>
            <p:ph idx="1"/>
          </p:nvPr>
        </p:nvSpPr>
        <p:spPr/>
        <p:txBody>
          <a:bodyPr>
            <a:normAutofit/>
          </a:bodyPr>
          <a:lstStyle/>
          <a:p>
            <a:pPr marL="457200" lvl="0" indent="-457200" algn="just">
              <a:buFont typeface="+mj-lt"/>
              <a:buAutoNum type="arabicParenR"/>
            </a:pPr>
            <a:r>
              <a:rPr lang="en-IN" sz="1900" dirty="0">
                <a:latin typeface="Times New Roman" panose="02020603050405020304" pitchFamily="18" charset="0"/>
                <a:cs typeface="Times New Roman" panose="02020603050405020304" pitchFamily="18" charset="0"/>
              </a:rPr>
              <a:t> Acharya, U. R., Oh, S. L., Hagiwara, Y., Tan, J. H., Adam, M., </a:t>
            </a:r>
            <a:r>
              <a:rPr lang="en-IN" sz="1900" dirty="0" err="1">
                <a:latin typeface="Times New Roman" panose="02020603050405020304" pitchFamily="18" charset="0"/>
                <a:cs typeface="Times New Roman" panose="02020603050405020304" pitchFamily="18" charset="0"/>
              </a:rPr>
              <a:t>Gertych</a:t>
            </a:r>
            <a:r>
              <a:rPr lang="en-IN" sz="1900" dirty="0">
                <a:latin typeface="Times New Roman" panose="02020603050405020304" pitchFamily="18" charset="0"/>
                <a:cs typeface="Times New Roman" panose="02020603050405020304" pitchFamily="18" charset="0"/>
              </a:rPr>
              <a:t>, A., and Tan, R. S. (2017). A deep convolutional neural network model to classify heartbeats. Computers in Biology and Medicine, 89, 389–396.</a:t>
            </a:r>
          </a:p>
          <a:p>
            <a:pPr marL="457200" lvl="0" indent="-457200" algn="just">
              <a:buFont typeface="+mj-lt"/>
              <a:buAutoNum type="arabicParenR"/>
            </a:pPr>
            <a:r>
              <a:rPr lang="en-IN" sz="1900" dirty="0">
                <a:latin typeface="Times New Roman" panose="02020603050405020304" pitchFamily="18" charset="0"/>
                <a:cs typeface="Times New Roman" panose="02020603050405020304" pitchFamily="18" charset="0"/>
              </a:rPr>
              <a:t> Alday, E. A. P., Gu, A., Shah, A. J., Robichaux, C., Wong, A. K. I., Liu, C., and Reyna, M. A. (2020). Classification of 12-lead ECGs with the PhysioNet Computing in Cardiology Challenge. Physiological Measurement, 41(12), 124003.</a:t>
            </a:r>
          </a:p>
          <a:p>
            <a:pPr marL="457200" lvl="0" indent="-457200" algn="just">
              <a:buFont typeface="+mj-lt"/>
              <a:buAutoNum type="arabicParenR"/>
            </a:pPr>
            <a:r>
              <a:rPr lang="en-IN" sz="1900" dirty="0" err="1">
                <a:latin typeface="Times New Roman" panose="02020603050405020304" pitchFamily="18" charset="0"/>
                <a:cs typeface="Times New Roman" panose="02020603050405020304" pitchFamily="18" charset="0"/>
              </a:rPr>
              <a:t>Baloglu</a:t>
            </a:r>
            <a:r>
              <a:rPr lang="en-IN" sz="1900" dirty="0">
                <a:latin typeface="Times New Roman" panose="02020603050405020304" pitchFamily="18" charset="0"/>
                <a:cs typeface="Times New Roman" panose="02020603050405020304" pitchFamily="18" charset="0"/>
              </a:rPr>
              <a:t>, U. B., </a:t>
            </a:r>
            <a:r>
              <a:rPr lang="en-IN" sz="1900" dirty="0" err="1">
                <a:latin typeface="Times New Roman" panose="02020603050405020304" pitchFamily="18" charset="0"/>
                <a:cs typeface="Times New Roman" panose="02020603050405020304" pitchFamily="18" charset="0"/>
              </a:rPr>
              <a:t>Talo</a:t>
            </a:r>
            <a:r>
              <a:rPr lang="en-IN" sz="1900" dirty="0">
                <a:latin typeface="Times New Roman" panose="02020603050405020304" pitchFamily="18" charset="0"/>
                <a:cs typeface="Times New Roman" panose="02020603050405020304" pitchFamily="18" charset="0"/>
              </a:rPr>
              <a:t>, M., Yildirim, O., San Tan, R., and Acharya, U. R. (2019). Classification of myocardial infarction with multi-lead ECG signals and deep CNN. Pattern Recognition Letters, 122, 23–30.</a:t>
            </a:r>
          </a:p>
          <a:p>
            <a:pPr marL="457200" lvl="0" indent="-457200" algn="just">
              <a:buFont typeface="+mj-lt"/>
              <a:buAutoNum type="arabicParenR"/>
            </a:pPr>
            <a:r>
              <a:rPr lang="en-IN" sz="1900" dirty="0">
                <a:latin typeface="Times New Roman" panose="02020603050405020304" pitchFamily="18" charset="0"/>
                <a:cs typeface="Times New Roman" panose="02020603050405020304" pitchFamily="18" charset="0"/>
              </a:rPr>
              <a:t>Chen, T. M., Huang, C. H., Shih, E. S., Hu, Y. F., and Hwang, M. J. (2021). Detection and classification of cardiac arrhythmias by a challenge-best deep learning neural network model. </a:t>
            </a:r>
            <a:r>
              <a:rPr lang="en-IN" sz="1900" dirty="0" err="1">
                <a:latin typeface="Times New Roman" panose="02020603050405020304" pitchFamily="18" charset="0"/>
                <a:cs typeface="Times New Roman" panose="02020603050405020304" pitchFamily="18" charset="0"/>
              </a:rPr>
              <a:t>iScience</a:t>
            </a:r>
            <a:r>
              <a:rPr lang="en-IN" sz="1900" dirty="0">
                <a:latin typeface="Times New Roman" panose="02020603050405020304" pitchFamily="18" charset="0"/>
                <a:cs typeface="Times New Roman" panose="02020603050405020304" pitchFamily="18" charset="0"/>
              </a:rPr>
              <a:t>, 23(3), 100886.</a:t>
            </a:r>
          </a:p>
          <a:p>
            <a:pPr marL="457200" indent="-457200" algn="just">
              <a:buFont typeface="+mj-lt"/>
              <a:buAutoNum type="arabicParenR"/>
            </a:pPr>
            <a:endParaRPr lang="en-IN" sz="19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D1440F2-CF62-1E11-C943-BB918F82579F}"/>
              </a:ext>
            </a:extLst>
          </p:cNvPr>
          <p:cNvSpPr>
            <a:spLocks noGrp="1"/>
          </p:cNvSpPr>
          <p:nvPr>
            <p:ph type="dt" sz="half" idx="10"/>
          </p:nvPr>
        </p:nvSpPr>
        <p:spPr/>
        <p:txBody>
          <a:bodyPr/>
          <a:lstStyle/>
          <a:p>
            <a:fld id="{76796024-6B97-4464-B986-4FD2791A5371}" type="datetime1">
              <a:rPr lang="en-IN" smtClean="0"/>
              <a:t>02-04-2026</a:t>
            </a:fld>
            <a:endParaRPr lang="en-IN"/>
          </a:p>
        </p:txBody>
      </p:sp>
      <p:sp>
        <p:nvSpPr>
          <p:cNvPr id="6" name="Slide Number Placeholder 5">
            <a:extLst>
              <a:ext uri="{FF2B5EF4-FFF2-40B4-BE49-F238E27FC236}">
                <a16:creationId xmlns:a16="http://schemas.microsoft.com/office/drawing/2014/main" id="{90461EF9-FF3A-7AD8-3761-6A39C5BBADC2}"/>
              </a:ext>
            </a:extLst>
          </p:cNvPr>
          <p:cNvSpPr>
            <a:spLocks noGrp="1"/>
          </p:cNvSpPr>
          <p:nvPr>
            <p:ph type="sldNum" sz="quarter" idx="12"/>
          </p:nvPr>
        </p:nvSpPr>
        <p:spPr/>
        <p:txBody>
          <a:bodyPr/>
          <a:lstStyle/>
          <a:p>
            <a:fld id="{B6A08FA2-6E03-4978-AC29-B1ACFE8A3E2D}" type="slidenum">
              <a:rPr lang="en-IN" smtClean="0"/>
              <a:t>20</a:t>
            </a:fld>
            <a:endParaRPr lang="en-IN"/>
          </a:p>
        </p:txBody>
      </p:sp>
    </p:spTree>
    <p:extLst>
      <p:ext uri="{BB962C8B-B14F-4D97-AF65-F5344CB8AC3E}">
        <p14:creationId xmlns:p14="http://schemas.microsoft.com/office/powerpoint/2010/main" val="880114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9D11D-8C69-02CD-0766-EE780E9219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EC8812-C937-B75E-CFCC-09C8F3A1EDD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Publication / Patent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1C29A03-0D33-B23F-AA3C-AF4B3D8C82FA}"/>
              </a:ext>
            </a:extLst>
          </p:cNvPr>
          <p:cNvSpPr>
            <a:spLocks noGrp="1"/>
          </p:cNvSpPr>
          <p:nvPr>
            <p:ph idx="1"/>
          </p:nvPr>
        </p:nvSpPr>
        <p:spPr/>
        <p:txBody>
          <a:bodyPr/>
          <a:lstStyle/>
          <a:p>
            <a:endParaRPr lang="en-IN" dirty="0"/>
          </a:p>
        </p:txBody>
      </p:sp>
      <p:sp>
        <p:nvSpPr>
          <p:cNvPr id="4" name="Date Placeholder 3">
            <a:extLst>
              <a:ext uri="{FF2B5EF4-FFF2-40B4-BE49-F238E27FC236}">
                <a16:creationId xmlns:a16="http://schemas.microsoft.com/office/drawing/2014/main" id="{52253636-7F02-E84F-18F8-109B7D7F068C}"/>
              </a:ext>
            </a:extLst>
          </p:cNvPr>
          <p:cNvSpPr>
            <a:spLocks noGrp="1"/>
          </p:cNvSpPr>
          <p:nvPr>
            <p:ph type="dt" sz="half" idx="10"/>
          </p:nvPr>
        </p:nvSpPr>
        <p:spPr/>
        <p:txBody>
          <a:bodyPr/>
          <a:lstStyle/>
          <a:p>
            <a:fld id="{76796024-6B97-4464-B986-4FD2791A5371}" type="datetime1">
              <a:rPr lang="en-IN" smtClean="0"/>
              <a:t>02-04-2026</a:t>
            </a:fld>
            <a:endParaRPr lang="en-IN"/>
          </a:p>
        </p:txBody>
      </p:sp>
      <p:sp>
        <p:nvSpPr>
          <p:cNvPr id="6" name="Slide Number Placeholder 5">
            <a:extLst>
              <a:ext uri="{FF2B5EF4-FFF2-40B4-BE49-F238E27FC236}">
                <a16:creationId xmlns:a16="http://schemas.microsoft.com/office/drawing/2014/main" id="{FDD9E008-8C2B-C7F1-4A0C-60A54E0AC8D6}"/>
              </a:ext>
            </a:extLst>
          </p:cNvPr>
          <p:cNvSpPr>
            <a:spLocks noGrp="1"/>
          </p:cNvSpPr>
          <p:nvPr>
            <p:ph type="sldNum" sz="quarter" idx="12"/>
          </p:nvPr>
        </p:nvSpPr>
        <p:spPr/>
        <p:txBody>
          <a:bodyPr/>
          <a:lstStyle/>
          <a:p>
            <a:fld id="{B6A08FA2-6E03-4978-AC29-B1ACFE8A3E2D}" type="slidenum">
              <a:rPr lang="en-IN" smtClean="0"/>
              <a:t>21</a:t>
            </a:fld>
            <a:endParaRPr lang="en-IN"/>
          </a:p>
        </p:txBody>
      </p:sp>
    </p:spTree>
    <p:extLst>
      <p:ext uri="{BB962C8B-B14F-4D97-AF65-F5344CB8AC3E}">
        <p14:creationId xmlns:p14="http://schemas.microsoft.com/office/powerpoint/2010/main" val="11510115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253</TotalTime>
  <Words>1867</Words>
  <Application>Microsoft Office PowerPoint</Application>
  <PresentationFormat>Widescreen</PresentationFormat>
  <Paragraphs>208</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Times New Roman</vt:lpstr>
      <vt:lpstr>Office Theme</vt:lpstr>
      <vt:lpstr>Department of Information Technology</vt:lpstr>
      <vt:lpstr>Abstract</vt:lpstr>
      <vt:lpstr>Introduction</vt:lpstr>
      <vt:lpstr>Existing System</vt:lpstr>
      <vt:lpstr>Need for Proposed System</vt:lpstr>
      <vt:lpstr>Proposed System</vt:lpstr>
      <vt:lpstr>Proposed System</vt:lpstr>
      <vt:lpstr>Proposed System</vt:lpstr>
      <vt:lpstr>Architecture Diagram</vt:lpstr>
      <vt:lpstr>Technology Used</vt:lpstr>
      <vt:lpstr>Module Description</vt:lpstr>
      <vt:lpstr>Module Description</vt:lpstr>
      <vt:lpstr>Module Description</vt:lpstr>
      <vt:lpstr>Results &amp; Discussion</vt:lpstr>
      <vt:lpstr>Screenshots</vt:lpstr>
      <vt:lpstr>PowerPoint Presentation</vt:lpstr>
      <vt:lpstr>PowerPoint Presentation</vt:lpstr>
      <vt:lpstr>Conclusion</vt:lpstr>
      <vt:lpstr>Future Scope &amp; Enhancements</vt:lpstr>
      <vt:lpstr>References</vt:lpstr>
      <vt:lpstr>Publication / Patent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Information Technology</dc:title>
  <dc:creator>Santhosh Kumar C</dc:creator>
  <cp:lastModifiedBy>S, Dharshana Devi (Contractor)</cp:lastModifiedBy>
  <cp:revision>7</cp:revision>
  <dcterms:created xsi:type="dcterms:W3CDTF">2026-03-11T11:49:07Z</dcterms:created>
  <dcterms:modified xsi:type="dcterms:W3CDTF">2026-04-02T09:36:18Z</dcterms:modified>
</cp:coreProperties>
</file>